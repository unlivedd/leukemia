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3"/>
  </p:notesMasterIdLst>
  <p:sldIdLst>
    <p:sldId id="256" r:id="rId2"/>
    <p:sldId id="258" r:id="rId3"/>
    <p:sldId id="257" r:id="rId4"/>
    <p:sldId id="260" r:id="rId5"/>
    <p:sldId id="259" r:id="rId6"/>
    <p:sldId id="311" r:id="rId7"/>
    <p:sldId id="312" r:id="rId8"/>
    <p:sldId id="313" r:id="rId9"/>
    <p:sldId id="314" r:id="rId10"/>
    <p:sldId id="261" r:id="rId11"/>
    <p:sldId id="315" r:id="rId12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4"/>
    </p:embeddedFont>
    <p:embeddedFont>
      <p:font typeface="Inter" panose="020B0604020202020204" charset="0"/>
      <p:regular r:id="rId15"/>
    </p:embeddedFont>
    <p:embeddedFont>
      <p:font typeface="Nunito" pitchFamily="2" charset="-52"/>
      <p:regular r:id="rId16"/>
      <p:bold r:id="rId17"/>
      <p:italic r:id="rId18"/>
      <p:boldItalic r:id="rId19"/>
    </p:embeddedFont>
    <p:embeddedFont>
      <p:font typeface="Raleway" pitchFamily="2" charset="-52"/>
      <p:regular r:id="rId20"/>
      <p:bold r:id="rId21"/>
      <p:italic r:id="rId22"/>
      <p:boldItalic r:id="rId23"/>
    </p:embeddedFont>
    <p:embeddedFont>
      <p:font typeface="Raleway Medium" pitchFamily="2" charset="-52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920FA9-BE45-41F9-9F6D-AE9BB38B5F37}">
  <a:tblStyle styleId="{A5920FA9-BE45-41F9-9F6D-AE9BB38B5F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94660"/>
  </p:normalViewPr>
  <p:slideViewPr>
    <p:cSldViewPr snapToGrid="0">
      <p:cViewPr>
        <p:scale>
          <a:sx n="75" d="100"/>
          <a:sy n="75" d="100"/>
        </p:scale>
        <p:origin x="2952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0a2de12baf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0a2de12baf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0a2de12b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0a2de12b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0a2de12baf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0a2de12baf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0a18aa2564_0_23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0a18aa2564_0_23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>
          <a:extLst>
            <a:ext uri="{FF2B5EF4-FFF2-40B4-BE49-F238E27FC236}">
              <a16:creationId xmlns:a16="http://schemas.microsoft.com/office/drawing/2014/main" id="{F82E0EBC-647B-0617-B8B8-4E2F32E4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0a18aa2564_0_23477:notes">
            <a:extLst>
              <a:ext uri="{FF2B5EF4-FFF2-40B4-BE49-F238E27FC236}">
                <a16:creationId xmlns:a16="http://schemas.microsoft.com/office/drawing/2014/main" id="{925586DB-0777-F115-B8E4-426FEEFFE7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0a18aa2564_0_23477:notes">
            <a:extLst>
              <a:ext uri="{FF2B5EF4-FFF2-40B4-BE49-F238E27FC236}">
                <a16:creationId xmlns:a16="http://schemas.microsoft.com/office/drawing/2014/main" id="{B5358A92-0D81-E81A-3A4C-E0AF2A60E2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9922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>
          <a:extLst>
            <a:ext uri="{FF2B5EF4-FFF2-40B4-BE49-F238E27FC236}">
              <a16:creationId xmlns:a16="http://schemas.microsoft.com/office/drawing/2014/main" id="{F8BB7F2A-2999-FE06-6B19-C04103C7F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0a18aa2564_0_23477:notes">
            <a:extLst>
              <a:ext uri="{FF2B5EF4-FFF2-40B4-BE49-F238E27FC236}">
                <a16:creationId xmlns:a16="http://schemas.microsoft.com/office/drawing/2014/main" id="{71A9111F-E910-26A5-2F89-83C48B931A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0a18aa2564_0_23477:notes">
            <a:extLst>
              <a:ext uri="{FF2B5EF4-FFF2-40B4-BE49-F238E27FC236}">
                <a16:creationId xmlns:a16="http://schemas.microsoft.com/office/drawing/2014/main" id="{06A9C178-39DF-0FA7-39BC-7769049A7B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1110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7E313E2E-EF85-CAD1-230F-2F33F1827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0a2de12baf_0_69:notes">
            <a:extLst>
              <a:ext uri="{FF2B5EF4-FFF2-40B4-BE49-F238E27FC236}">
                <a16:creationId xmlns:a16="http://schemas.microsoft.com/office/drawing/2014/main" id="{0378112C-1F32-1DBA-7C36-105880D50B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0a2de12baf_0_69:notes">
            <a:extLst>
              <a:ext uri="{FF2B5EF4-FFF2-40B4-BE49-F238E27FC236}">
                <a16:creationId xmlns:a16="http://schemas.microsoft.com/office/drawing/2014/main" id="{1E2D880E-62EF-8282-BB98-8482CD0AF7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3498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15ADAE24-641A-E839-19DD-FA21515E3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0a2de12baf_0_69:notes">
            <a:extLst>
              <a:ext uri="{FF2B5EF4-FFF2-40B4-BE49-F238E27FC236}">
                <a16:creationId xmlns:a16="http://schemas.microsoft.com/office/drawing/2014/main" id="{CAB0D897-7CDA-AE3B-5524-EA1F9EA55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0a2de12baf_0_69:notes">
            <a:extLst>
              <a:ext uri="{FF2B5EF4-FFF2-40B4-BE49-F238E27FC236}">
                <a16:creationId xmlns:a16="http://schemas.microsoft.com/office/drawing/2014/main" id="{465E6869-3C0C-A602-E182-C64879764A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0082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0a18aa2564_0_23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0a18aa2564_0_23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6DADF5E8-4A0C-79F7-ECAC-5763AA229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0a2de12baf_0_69:notes">
            <a:extLst>
              <a:ext uri="{FF2B5EF4-FFF2-40B4-BE49-F238E27FC236}">
                <a16:creationId xmlns:a16="http://schemas.microsoft.com/office/drawing/2014/main" id="{0D32B528-097B-CAAE-9356-BF73001E5D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0a2de12baf_0_69:notes">
            <a:extLst>
              <a:ext uri="{FF2B5EF4-FFF2-40B4-BE49-F238E27FC236}">
                <a16:creationId xmlns:a16="http://schemas.microsoft.com/office/drawing/2014/main" id="{3B7ACC2E-9FDC-1EDD-755E-3931128559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2930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/>
        </p:nvSpPr>
        <p:spPr>
          <a:xfrm>
            <a:off x="11400" y="0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" name="Google Shape;10;p2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" name="Google Shape;11;p2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" name="Google Shape;12;p2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708150" y="535050"/>
            <a:ext cx="7720800" cy="407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356550" y="1165860"/>
            <a:ext cx="4412100" cy="18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356550" y="3041885"/>
            <a:ext cx="44121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100"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2"/>
          </p:nvPr>
        </p:nvSpPr>
        <p:spPr>
          <a:xfrm>
            <a:off x="3356550" y="3840335"/>
            <a:ext cx="44121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106050" y="2190967"/>
            <a:ext cx="4944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638942" y="1349167"/>
            <a:ext cx="188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897842" y="3055967"/>
            <a:ext cx="53508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/>
          <p:nvPr/>
        </p:nvSpPr>
        <p:spPr>
          <a:xfrm rot="5400000">
            <a:off x="-577075" y="3689750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/>
        </p:nvSpPr>
        <p:spPr>
          <a:xfrm rot="5400000">
            <a:off x="-1536625" y="2730450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712400" y="1091150"/>
            <a:ext cx="7716600" cy="4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918600" y="1071750"/>
            <a:ext cx="7306800" cy="35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aleway"/>
              <a:buAutoNum type="arabicPeriod"/>
              <a:defRPr sz="12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romanLcPeriod"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arabicPeriod"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alphaLcPeriod"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romanLcPeriod"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arabicPeriod"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alphaLcPeriod"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romanLcPeriod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/>
        </p:nvSpPr>
        <p:spPr>
          <a:xfrm>
            <a:off x="0" y="1635000"/>
            <a:ext cx="4709100" cy="3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" name="Google Shape;40;p7"/>
          <p:cNvSpPr txBox="1">
            <a:spLocks noGrp="1"/>
          </p:cNvSpPr>
          <p:nvPr>
            <p:ph type="subTitle" idx="1"/>
          </p:nvPr>
        </p:nvSpPr>
        <p:spPr>
          <a:xfrm>
            <a:off x="2259450" y="1849425"/>
            <a:ext cx="4625100" cy="17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" name="Google Shape;49;p9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96000" y="1424283"/>
            <a:ext cx="3675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896000" y="2179726"/>
            <a:ext cx="3675900" cy="13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dk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/>
        </p:nvSpPr>
        <p:spPr>
          <a:xfrm>
            <a:off x="11400" y="4030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1621208"/>
            <a:ext cx="2336400" cy="7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158483"/>
            <a:ext cx="924600" cy="4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"/>
          </p:nvPr>
        </p:nvSpPr>
        <p:spPr>
          <a:xfrm>
            <a:off x="720000" y="2261249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3"/>
          </p:nvPr>
        </p:nvSpPr>
        <p:spPr>
          <a:xfrm>
            <a:off x="3403800" y="1621216"/>
            <a:ext cx="2336400" cy="7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4" hasCustomPrompt="1"/>
          </p:nvPr>
        </p:nvSpPr>
        <p:spPr>
          <a:xfrm>
            <a:off x="3403800" y="1158483"/>
            <a:ext cx="923400" cy="4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3403800" y="2261249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6"/>
          </p:nvPr>
        </p:nvSpPr>
        <p:spPr>
          <a:xfrm>
            <a:off x="6087600" y="1621208"/>
            <a:ext cx="2336400" cy="7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7" hasCustomPrompt="1"/>
          </p:nvPr>
        </p:nvSpPr>
        <p:spPr>
          <a:xfrm>
            <a:off x="6087600" y="1158483"/>
            <a:ext cx="923400" cy="4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6087600" y="2261249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/>
          </p:nvPr>
        </p:nvSpPr>
        <p:spPr>
          <a:xfrm>
            <a:off x="720000" y="3475466"/>
            <a:ext cx="2336400" cy="7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720000" y="3012741"/>
            <a:ext cx="9234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4"/>
          </p:nvPr>
        </p:nvSpPr>
        <p:spPr>
          <a:xfrm>
            <a:off x="720000" y="411550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/>
          </p:nvPr>
        </p:nvSpPr>
        <p:spPr>
          <a:xfrm>
            <a:off x="3403800" y="3475466"/>
            <a:ext cx="2336400" cy="7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6" hasCustomPrompt="1"/>
          </p:nvPr>
        </p:nvSpPr>
        <p:spPr>
          <a:xfrm>
            <a:off x="3403800" y="3012741"/>
            <a:ext cx="9234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7"/>
          </p:nvPr>
        </p:nvSpPr>
        <p:spPr>
          <a:xfrm>
            <a:off x="3403800" y="411550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8"/>
          </p:nvPr>
        </p:nvSpPr>
        <p:spPr>
          <a:xfrm>
            <a:off x="6087600" y="3475466"/>
            <a:ext cx="2336400" cy="7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9" hasCustomPrompt="1"/>
          </p:nvPr>
        </p:nvSpPr>
        <p:spPr>
          <a:xfrm>
            <a:off x="6087600" y="3012741"/>
            <a:ext cx="9234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20"/>
          </p:nvPr>
        </p:nvSpPr>
        <p:spPr>
          <a:xfrm>
            <a:off x="6087600" y="411550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solidFill>
          <a:schemeClr val="dk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/>
        </p:nvSpPr>
        <p:spPr>
          <a:xfrm rot="5400000">
            <a:off x="-571525" y="3695550"/>
            <a:ext cx="17523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719509" y="1393266"/>
            <a:ext cx="7704000" cy="29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5"/>
          <p:cNvSpPr txBox="1">
            <a:spLocks noGrp="1"/>
          </p:cNvSpPr>
          <p:nvPr>
            <p:ph type="title"/>
          </p:nvPr>
        </p:nvSpPr>
        <p:spPr>
          <a:xfrm>
            <a:off x="872400" y="2645013"/>
            <a:ext cx="23364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0" name="Google Shape;170;p25"/>
          <p:cNvSpPr txBox="1">
            <a:spLocks noGrp="1"/>
          </p:cNvSpPr>
          <p:nvPr>
            <p:ph type="subTitle" idx="1"/>
          </p:nvPr>
        </p:nvSpPr>
        <p:spPr>
          <a:xfrm>
            <a:off x="872400" y="3094224"/>
            <a:ext cx="2336400" cy="90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title" idx="2"/>
          </p:nvPr>
        </p:nvSpPr>
        <p:spPr>
          <a:xfrm>
            <a:off x="3403800" y="2645013"/>
            <a:ext cx="23364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2" name="Google Shape;172;p25"/>
          <p:cNvSpPr txBox="1">
            <a:spLocks noGrp="1"/>
          </p:cNvSpPr>
          <p:nvPr>
            <p:ph type="subTitle" idx="3"/>
          </p:nvPr>
        </p:nvSpPr>
        <p:spPr>
          <a:xfrm>
            <a:off x="3403800" y="3094224"/>
            <a:ext cx="2336400" cy="90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25"/>
          <p:cNvSpPr txBox="1">
            <a:spLocks noGrp="1"/>
          </p:cNvSpPr>
          <p:nvPr>
            <p:ph type="title" idx="4"/>
          </p:nvPr>
        </p:nvSpPr>
        <p:spPr>
          <a:xfrm>
            <a:off x="5935200" y="2645013"/>
            <a:ext cx="23364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subTitle" idx="5"/>
          </p:nvPr>
        </p:nvSpPr>
        <p:spPr>
          <a:xfrm>
            <a:off x="5935200" y="3094224"/>
            <a:ext cx="2336400" cy="90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1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33"/>
          <p:cNvGrpSpPr/>
          <p:nvPr/>
        </p:nvGrpSpPr>
        <p:grpSpPr>
          <a:xfrm>
            <a:off x="-457433" y="534990"/>
            <a:ext cx="2192659" cy="557097"/>
            <a:chOff x="2641350" y="846250"/>
            <a:chExt cx="413600" cy="105075"/>
          </a:xfrm>
        </p:grpSpPr>
        <p:sp>
          <p:nvSpPr>
            <p:cNvPr id="260" name="Google Shape;260;p33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3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3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3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4" name="Google Shape;264;p33"/>
          <p:cNvGrpSpPr/>
          <p:nvPr/>
        </p:nvGrpSpPr>
        <p:grpSpPr>
          <a:xfrm>
            <a:off x="2881200" y="4514854"/>
            <a:ext cx="3397850" cy="187275"/>
            <a:chOff x="-3237675" y="-1132050"/>
            <a:chExt cx="3397850" cy="187275"/>
          </a:xfrm>
        </p:grpSpPr>
        <p:sp>
          <p:nvSpPr>
            <p:cNvPr id="265" name="Google Shape;265;p33"/>
            <p:cNvSpPr/>
            <p:nvPr/>
          </p:nvSpPr>
          <p:spPr>
            <a:xfrm>
              <a:off x="-37875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3"/>
            <p:cNvSpPr/>
            <p:nvPr/>
          </p:nvSpPr>
          <p:spPr>
            <a:xfrm>
              <a:off x="29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3"/>
            <p:cNvSpPr/>
            <p:nvPr/>
          </p:nvSpPr>
          <p:spPr>
            <a:xfrm>
              <a:off x="-787250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3"/>
            <p:cNvSpPr/>
            <p:nvPr/>
          </p:nvSpPr>
          <p:spPr>
            <a:xfrm>
              <a:off x="-1195725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3"/>
            <p:cNvSpPr/>
            <p:nvPr/>
          </p:nvSpPr>
          <p:spPr>
            <a:xfrm>
              <a:off x="-16042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3"/>
            <p:cNvSpPr/>
            <p:nvPr/>
          </p:nvSpPr>
          <p:spPr>
            <a:xfrm>
              <a:off x="-2012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3"/>
            <p:cNvSpPr/>
            <p:nvPr/>
          </p:nvSpPr>
          <p:spPr>
            <a:xfrm>
              <a:off x="-242120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3"/>
            <p:cNvSpPr/>
            <p:nvPr/>
          </p:nvSpPr>
          <p:spPr>
            <a:xfrm>
              <a:off x="-28291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3"/>
            <p:cNvSpPr/>
            <p:nvPr/>
          </p:nvSpPr>
          <p:spPr>
            <a:xfrm>
              <a:off x="-32376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" name="Google Shape;274;p33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accent1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7" name="Google Shape;277;p34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8" name="Google Shape;278;p34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9" name="Google Shape;279;p34"/>
          <p:cNvSpPr/>
          <p:nvPr/>
        </p:nvSpPr>
        <p:spPr>
          <a:xfrm>
            <a:off x="708150" y="535050"/>
            <a:ext cx="7720800" cy="407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0" name="Google Shape;280;p34"/>
          <p:cNvGrpSpPr/>
          <p:nvPr/>
        </p:nvGrpSpPr>
        <p:grpSpPr>
          <a:xfrm>
            <a:off x="419564" y="436857"/>
            <a:ext cx="772605" cy="196301"/>
            <a:chOff x="2641350" y="846250"/>
            <a:chExt cx="413600" cy="105075"/>
          </a:xfrm>
        </p:grpSpPr>
        <p:sp>
          <p:nvSpPr>
            <p:cNvPr id="281" name="Google Shape;281;p34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4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4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4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" name="Google Shape;285;p34"/>
          <p:cNvGrpSpPr/>
          <p:nvPr/>
        </p:nvGrpSpPr>
        <p:grpSpPr>
          <a:xfrm>
            <a:off x="7959731" y="436857"/>
            <a:ext cx="772605" cy="196301"/>
            <a:chOff x="2641350" y="846250"/>
            <a:chExt cx="413600" cy="105075"/>
          </a:xfrm>
        </p:grpSpPr>
        <p:sp>
          <p:nvSpPr>
            <p:cNvPr id="286" name="Google Shape;286;p34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4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4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4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Bebas Neue"/>
              <a:buNone/>
              <a:defRPr sz="35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5" r:id="rId5"/>
    <p:sldLayoutId id="2147483658" r:id="rId6"/>
    <p:sldLayoutId id="2147483659" r:id="rId7"/>
    <p:sldLayoutId id="2147483671" r:id="rId8"/>
    <p:sldLayoutId id="2147483679" r:id="rId9"/>
    <p:sldLayoutId id="214748368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"/>
          <p:cNvSpPr txBox="1">
            <a:spLocks noGrp="1"/>
          </p:cNvSpPr>
          <p:nvPr>
            <p:ph type="ctrTitle"/>
          </p:nvPr>
        </p:nvSpPr>
        <p:spPr>
          <a:xfrm>
            <a:off x="3356550" y="1165860"/>
            <a:ext cx="4412100" cy="18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Автоматическое</a:t>
            </a: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определение</a:t>
            </a: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лейкемии</a:t>
            </a: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</a:t>
            </a: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изображениям</a:t>
            </a: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клетоккрови</a:t>
            </a:r>
            <a:endParaRPr lang="en-US" sz="2000" dirty="0"/>
          </a:p>
        </p:txBody>
      </p:sp>
      <p:sp>
        <p:nvSpPr>
          <p:cNvPr id="301" name="Google Shape;301;p38"/>
          <p:cNvSpPr txBox="1">
            <a:spLocks noGrp="1"/>
          </p:cNvSpPr>
          <p:nvPr>
            <p:ph type="subTitle" idx="1"/>
          </p:nvPr>
        </p:nvSpPr>
        <p:spPr>
          <a:xfrm>
            <a:off x="3356550" y="3041885"/>
            <a:ext cx="44121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lnSpc>
                <a:spcPts val="2850"/>
              </a:lnSpc>
            </a:pPr>
            <a:r>
              <a:rPr lang="en-US" sz="12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Использование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классического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машинного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обучения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точной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12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быстрой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диагностики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grpSp>
        <p:nvGrpSpPr>
          <p:cNvPr id="302" name="Google Shape;302;p38"/>
          <p:cNvGrpSpPr/>
          <p:nvPr/>
        </p:nvGrpSpPr>
        <p:grpSpPr>
          <a:xfrm>
            <a:off x="-717279" y="1417515"/>
            <a:ext cx="3692970" cy="3912200"/>
            <a:chOff x="411650" y="2156650"/>
            <a:chExt cx="2413075" cy="2556325"/>
          </a:xfrm>
        </p:grpSpPr>
        <p:sp>
          <p:nvSpPr>
            <p:cNvPr id="303" name="Google Shape;303;p38"/>
            <p:cNvSpPr/>
            <p:nvPr/>
          </p:nvSpPr>
          <p:spPr>
            <a:xfrm>
              <a:off x="1503675" y="2736975"/>
              <a:ext cx="253225" cy="253225"/>
            </a:xfrm>
            <a:custGeom>
              <a:avLst/>
              <a:gdLst/>
              <a:ahLst/>
              <a:cxnLst/>
              <a:rect l="l" t="t" r="r" b="b"/>
              <a:pathLst>
                <a:path w="10129" h="10129" extrusionOk="0">
                  <a:moveTo>
                    <a:pt x="5075" y="0"/>
                  </a:moveTo>
                  <a:cubicBezTo>
                    <a:pt x="2274" y="0"/>
                    <a:pt x="0" y="2274"/>
                    <a:pt x="0" y="5075"/>
                  </a:cubicBezTo>
                  <a:cubicBezTo>
                    <a:pt x="0" y="7855"/>
                    <a:pt x="2274" y="10129"/>
                    <a:pt x="5075" y="10129"/>
                  </a:cubicBezTo>
                  <a:cubicBezTo>
                    <a:pt x="7876" y="10129"/>
                    <a:pt x="10129" y="7855"/>
                    <a:pt x="10129" y="5075"/>
                  </a:cubicBezTo>
                  <a:cubicBezTo>
                    <a:pt x="10129" y="2274"/>
                    <a:pt x="7876" y="0"/>
                    <a:pt x="5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8"/>
            <p:cNvSpPr/>
            <p:nvPr/>
          </p:nvSpPr>
          <p:spPr>
            <a:xfrm>
              <a:off x="1984225" y="2412200"/>
              <a:ext cx="123325" cy="123350"/>
            </a:xfrm>
            <a:custGeom>
              <a:avLst/>
              <a:gdLst/>
              <a:ahLst/>
              <a:cxnLst/>
              <a:rect l="l" t="t" r="r" b="b"/>
              <a:pathLst>
                <a:path w="4933" h="4934" extrusionOk="0">
                  <a:moveTo>
                    <a:pt x="2476" y="1"/>
                  </a:moveTo>
                  <a:cubicBezTo>
                    <a:pt x="1096" y="1"/>
                    <a:pt x="0" y="1097"/>
                    <a:pt x="0" y="2477"/>
                  </a:cubicBezTo>
                  <a:cubicBezTo>
                    <a:pt x="0" y="3837"/>
                    <a:pt x="1096" y="4933"/>
                    <a:pt x="2476" y="4933"/>
                  </a:cubicBezTo>
                  <a:cubicBezTo>
                    <a:pt x="3836" y="4933"/>
                    <a:pt x="4932" y="3837"/>
                    <a:pt x="4932" y="2477"/>
                  </a:cubicBezTo>
                  <a:cubicBezTo>
                    <a:pt x="4932" y="1097"/>
                    <a:pt x="3836" y="1"/>
                    <a:pt x="2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8"/>
            <p:cNvSpPr/>
            <p:nvPr/>
          </p:nvSpPr>
          <p:spPr>
            <a:xfrm>
              <a:off x="2395250" y="2199600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4953" h="4953" extrusionOk="0">
                  <a:moveTo>
                    <a:pt x="2477" y="0"/>
                  </a:moveTo>
                  <a:cubicBezTo>
                    <a:pt x="1117" y="0"/>
                    <a:pt x="0" y="1117"/>
                    <a:pt x="0" y="2476"/>
                  </a:cubicBezTo>
                  <a:cubicBezTo>
                    <a:pt x="0" y="3836"/>
                    <a:pt x="1117" y="4953"/>
                    <a:pt x="2477" y="4953"/>
                  </a:cubicBezTo>
                  <a:cubicBezTo>
                    <a:pt x="3836" y="4953"/>
                    <a:pt x="4953" y="3836"/>
                    <a:pt x="4953" y="2476"/>
                  </a:cubicBezTo>
                  <a:cubicBezTo>
                    <a:pt x="4953" y="1117"/>
                    <a:pt x="3836" y="0"/>
                    <a:pt x="24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8"/>
            <p:cNvSpPr/>
            <p:nvPr/>
          </p:nvSpPr>
          <p:spPr>
            <a:xfrm>
              <a:off x="2580975" y="3149000"/>
              <a:ext cx="109625" cy="109650"/>
            </a:xfrm>
            <a:custGeom>
              <a:avLst/>
              <a:gdLst/>
              <a:ahLst/>
              <a:cxnLst/>
              <a:rect l="l" t="t" r="r" b="b"/>
              <a:pathLst>
                <a:path w="4385" h="4386" extrusionOk="0">
                  <a:moveTo>
                    <a:pt x="2192" y="1"/>
                  </a:moveTo>
                  <a:cubicBezTo>
                    <a:pt x="974" y="1"/>
                    <a:pt x="0" y="975"/>
                    <a:pt x="0" y="2193"/>
                  </a:cubicBezTo>
                  <a:cubicBezTo>
                    <a:pt x="0" y="3411"/>
                    <a:pt x="974" y="4385"/>
                    <a:pt x="2192" y="4385"/>
                  </a:cubicBezTo>
                  <a:cubicBezTo>
                    <a:pt x="3410" y="4385"/>
                    <a:pt x="4384" y="3411"/>
                    <a:pt x="4384" y="2193"/>
                  </a:cubicBezTo>
                  <a:cubicBezTo>
                    <a:pt x="4384" y="975"/>
                    <a:pt x="3410" y="1"/>
                    <a:pt x="2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8"/>
            <p:cNvSpPr/>
            <p:nvPr/>
          </p:nvSpPr>
          <p:spPr>
            <a:xfrm>
              <a:off x="2544425" y="3129725"/>
              <a:ext cx="115725" cy="121300"/>
            </a:xfrm>
            <a:custGeom>
              <a:avLst/>
              <a:gdLst/>
              <a:ahLst/>
              <a:cxnLst/>
              <a:rect l="l" t="t" r="r" b="b"/>
              <a:pathLst>
                <a:path w="4629" h="4852" extrusionOk="0">
                  <a:moveTo>
                    <a:pt x="163" y="1"/>
                  </a:moveTo>
                  <a:cubicBezTo>
                    <a:pt x="163" y="1"/>
                    <a:pt x="1" y="2660"/>
                    <a:pt x="143" y="2944"/>
                  </a:cubicBezTo>
                  <a:cubicBezTo>
                    <a:pt x="285" y="3228"/>
                    <a:pt x="4121" y="4852"/>
                    <a:pt x="4121" y="4852"/>
                  </a:cubicBezTo>
                  <a:lnTo>
                    <a:pt x="4629" y="1624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8"/>
            <p:cNvSpPr/>
            <p:nvPr/>
          </p:nvSpPr>
          <p:spPr>
            <a:xfrm>
              <a:off x="2480500" y="2812575"/>
              <a:ext cx="67500" cy="114200"/>
            </a:xfrm>
            <a:custGeom>
              <a:avLst/>
              <a:gdLst/>
              <a:ahLst/>
              <a:cxnLst/>
              <a:rect l="l" t="t" r="r" b="b"/>
              <a:pathLst>
                <a:path w="2700" h="4568" extrusionOk="0">
                  <a:moveTo>
                    <a:pt x="569" y="1"/>
                  </a:moveTo>
                  <a:lnTo>
                    <a:pt x="0" y="4568"/>
                  </a:lnTo>
                  <a:lnTo>
                    <a:pt x="2700" y="2721"/>
                  </a:lnTo>
                  <a:lnTo>
                    <a:pt x="5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8"/>
            <p:cNvSpPr/>
            <p:nvPr/>
          </p:nvSpPr>
          <p:spPr>
            <a:xfrm>
              <a:off x="2403350" y="2218375"/>
              <a:ext cx="143650" cy="198925"/>
            </a:xfrm>
            <a:custGeom>
              <a:avLst/>
              <a:gdLst/>
              <a:ahLst/>
              <a:cxnLst/>
              <a:rect l="l" t="t" r="r" b="b"/>
              <a:pathLst>
                <a:path w="5746" h="7957" extrusionOk="0">
                  <a:moveTo>
                    <a:pt x="3614" y="0"/>
                  </a:moveTo>
                  <a:lnTo>
                    <a:pt x="1" y="1401"/>
                  </a:lnTo>
                  <a:lnTo>
                    <a:pt x="3391" y="7957"/>
                  </a:lnTo>
                  <a:lnTo>
                    <a:pt x="5745" y="6942"/>
                  </a:lnTo>
                  <a:lnTo>
                    <a:pt x="361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8"/>
            <p:cNvSpPr/>
            <p:nvPr/>
          </p:nvSpPr>
          <p:spPr>
            <a:xfrm>
              <a:off x="1996900" y="2436050"/>
              <a:ext cx="212125" cy="222300"/>
            </a:xfrm>
            <a:custGeom>
              <a:avLst/>
              <a:gdLst/>
              <a:ahLst/>
              <a:cxnLst/>
              <a:rect l="l" t="t" r="r" b="b"/>
              <a:pathLst>
                <a:path w="8485" h="8892" extrusionOk="0">
                  <a:moveTo>
                    <a:pt x="3025" y="1"/>
                  </a:moveTo>
                  <a:lnTo>
                    <a:pt x="1" y="2071"/>
                  </a:lnTo>
                  <a:lnTo>
                    <a:pt x="5785" y="8891"/>
                  </a:lnTo>
                  <a:lnTo>
                    <a:pt x="8485" y="6760"/>
                  </a:lnTo>
                  <a:lnTo>
                    <a:pt x="30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8"/>
            <p:cNvSpPr/>
            <p:nvPr/>
          </p:nvSpPr>
          <p:spPr>
            <a:xfrm>
              <a:off x="1012475" y="3482900"/>
              <a:ext cx="399875" cy="387200"/>
            </a:xfrm>
            <a:custGeom>
              <a:avLst/>
              <a:gdLst/>
              <a:ahLst/>
              <a:cxnLst/>
              <a:rect l="l" t="t" r="r" b="b"/>
              <a:pathLst>
                <a:path w="15995" h="15488" extrusionOk="0">
                  <a:moveTo>
                    <a:pt x="2091" y="1"/>
                  </a:moveTo>
                  <a:lnTo>
                    <a:pt x="0" y="3147"/>
                  </a:lnTo>
                  <a:lnTo>
                    <a:pt x="15447" y="15488"/>
                  </a:lnTo>
                  <a:lnTo>
                    <a:pt x="15995" y="15163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8"/>
            <p:cNvSpPr/>
            <p:nvPr/>
          </p:nvSpPr>
          <p:spPr>
            <a:xfrm>
              <a:off x="1875125" y="2834400"/>
              <a:ext cx="613000" cy="789675"/>
            </a:xfrm>
            <a:custGeom>
              <a:avLst/>
              <a:gdLst/>
              <a:ahLst/>
              <a:cxnLst/>
              <a:rect l="l" t="t" r="r" b="b"/>
              <a:pathLst>
                <a:path w="24520" h="31587" extrusionOk="0">
                  <a:moveTo>
                    <a:pt x="11265" y="0"/>
                  </a:moveTo>
                  <a:lnTo>
                    <a:pt x="0" y="15427"/>
                  </a:lnTo>
                  <a:lnTo>
                    <a:pt x="13823" y="22247"/>
                  </a:lnTo>
                  <a:cubicBezTo>
                    <a:pt x="13823" y="22247"/>
                    <a:pt x="12057" y="24682"/>
                    <a:pt x="10656" y="27159"/>
                  </a:cubicBezTo>
                  <a:cubicBezTo>
                    <a:pt x="9362" y="29415"/>
                    <a:pt x="9617" y="31587"/>
                    <a:pt x="10656" y="31587"/>
                  </a:cubicBezTo>
                  <a:cubicBezTo>
                    <a:pt x="10757" y="31587"/>
                    <a:pt x="10866" y="31566"/>
                    <a:pt x="10981" y="31523"/>
                  </a:cubicBezTo>
                  <a:cubicBezTo>
                    <a:pt x="12280" y="31056"/>
                    <a:pt x="17862" y="26651"/>
                    <a:pt x="17862" y="26651"/>
                  </a:cubicBezTo>
                  <a:lnTo>
                    <a:pt x="24520" y="18877"/>
                  </a:lnTo>
                  <a:lnTo>
                    <a:pt x="112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8"/>
            <p:cNvSpPr/>
            <p:nvPr/>
          </p:nvSpPr>
          <p:spPr>
            <a:xfrm>
              <a:off x="2149650" y="3482900"/>
              <a:ext cx="165450" cy="139575"/>
            </a:xfrm>
            <a:custGeom>
              <a:avLst/>
              <a:gdLst/>
              <a:ahLst/>
              <a:cxnLst/>
              <a:rect l="l" t="t" r="r" b="b"/>
              <a:pathLst>
                <a:path w="6618" h="5583" extrusionOk="0">
                  <a:moveTo>
                    <a:pt x="6374" y="1"/>
                  </a:moveTo>
                  <a:lnTo>
                    <a:pt x="0" y="5583"/>
                  </a:lnTo>
                  <a:cubicBezTo>
                    <a:pt x="1137" y="5177"/>
                    <a:pt x="5521" y="1787"/>
                    <a:pt x="6617" y="914"/>
                  </a:cubicBezTo>
                  <a:lnTo>
                    <a:pt x="63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8"/>
            <p:cNvSpPr/>
            <p:nvPr/>
          </p:nvSpPr>
          <p:spPr>
            <a:xfrm>
              <a:off x="2085200" y="2710575"/>
              <a:ext cx="78175" cy="234475"/>
            </a:xfrm>
            <a:custGeom>
              <a:avLst/>
              <a:gdLst/>
              <a:ahLst/>
              <a:cxnLst/>
              <a:rect l="l" t="t" r="r" b="b"/>
              <a:pathLst>
                <a:path w="3127" h="9379" extrusionOk="0">
                  <a:moveTo>
                    <a:pt x="1056" y="1"/>
                  </a:moveTo>
                  <a:lnTo>
                    <a:pt x="0" y="9378"/>
                  </a:lnTo>
                  <a:lnTo>
                    <a:pt x="3126" y="7917"/>
                  </a:lnTo>
                  <a:lnTo>
                    <a:pt x="10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8"/>
            <p:cNvSpPr/>
            <p:nvPr/>
          </p:nvSpPr>
          <p:spPr>
            <a:xfrm>
              <a:off x="2274225" y="3170325"/>
              <a:ext cx="378825" cy="364075"/>
            </a:xfrm>
            <a:custGeom>
              <a:avLst/>
              <a:gdLst/>
              <a:ahLst/>
              <a:cxnLst/>
              <a:rect l="l" t="t" r="r" b="b"/>
              <a:pathLst>
                <a:path w="15153" h="14563" extrusionOk="0">
                  <a:moveTo>
                    <a:pt x="10728" y="0"/>
                  </a:moveTo>
                  <a:cubicBezTo>
                    <a:pt x="10728" y="0"/>
                    <a:pt x="2182" y="4364"/>
                    <a:pt x="1127" y="6617"/>
                  </a:cubicBezTo>
                  <a:cubicBezTo>
                    <a:pt x="124" y="8758"/>
                    <a:pt x="1" y="14563"/>
                    <a:pt x="1871" y="14563"/>
                  </a:cubicBezTo>
                  <a:cubicBezTo>
                    <a:pt x="1969" y="14563"/>
                    <a:pt x="2073" y="14547"/>
                    <a:pt x="2182" y="14513"/>
                  </a:cubicBezTo>
                  <a:cubicBezTo>
                    <a:pt x="4374" y="13823"/>
                    <a:pt x="15152" y="3715"/>
                    <a:pt x="15152" y="3715"/>
                  </a:cubicBezTo>
                  <a:lnTo>
                    <a:pt x="14016" y="1259"/>
                  </a:lnTo>
                  <a:lnTo>
                    <a:pt x="10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8"/>
            <p:cNvSpPr/>
            <p:nvPr/>
          </p:nvSpPr>
          <p:spPr>
            <a:xfrm>
              <a:off x="2448525" y="2879050"/>
              <a:ext cx="225825" cy="307025"/>
            </a:xfrm>
            <a:custGeom>
              <a:avLst/>
              <a:gdLst/>
              <a:ahLst/>
              <a:cxnLst/>
              <a:rect l="l" t="t" r="r" b="b"/>
              <a:pathLst>
                <a:path w="9033" h="12281" extrusionOk="0">
                  <a:moveTo>
                    <a:pt x="4364" y="1"/>
                  </a:moveTo>
                  <a:lnTo>
                    <a:pt x="0" y="610"/>
                  </a:lnTo>
                  <a:lnTo>
                    <a:pt x="3735" y="10718"/>
                  </a:lnTo>
                  <a:lnTo>
                    <a:pt x="7511" y="12281"/>
                  </a:lnTo>
                  <a:lnTo>
                    <a:pt x="9033" y="11266"/>
                  </a:lnTo>
                  <a:lnTo>
                    <a:pt x="43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8"/>
            <p:cNvSpPr/>
            <p:nvPr/>
          </p:nvSpPr>
          <p:spPr>
            <a:xfrm>
              <a:off x="2569800" y="2920150"/>
              <a:ext cx="104550" cy="250200"/>
            </a:xfrm>
            <a:custGeom>
              <a:avLst/>
              <a:gdLst/>
              <a:ahLst/>
              <a:cxnLst/>
              <a:rect l="l" t="t" r="r" b="b"/>
              <a:pathLst>
                <a:path w="4182" h="10008" extrusionOk="0">
                  <a:moveTo>
                    <a:pt x="1" y="1"/>
                  </a:moveTo>
                  <a:lnTo>
                    <a:pt x="3614" y="10007"/>
                  </a:lnTo>
                  <a:lnTo>
                    <a:pt x="4182" y="962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8"/>
            <p:cNvSpPr/>
            <p:nvPr/>
          </p:nvSpPr>
          <p:spPr>
            <a:xfrm>
              <a:off x="2409950" y="2812575"/>
              <a:ext cx="168000" cy="168000"/>
            </a:xfrm>
            <a:custGeom>
              <a:avLst/>
              <a:gdLst/>
              <a:ahLst/>
              <a:cxnLst/>
              <a:rect l="l" t="t" r="r" b="b"/>
              <a:pathLst>
                <a:path w="6720" h="6720" extrusionOk="0">
                  <a:moveTo>
                    <a:pt x="3350" y="1"/>
                  </a:moveTo>
                  <a:cubicBezTo>
                    <a:pt x="1503" y="1"/>
                    <a:pt x="1" y="1503"/>
                    <a:pt x="1" y="3370"/>
                  </a:cubicBezTo>
                  <a:cubicBezTo>
                    <a:pt x="1" y="5217"/>
                    <a:pt x="1503" y="6719"/>
                    <a:pt x="3350" y="6719"/>
                  </a:cubicBezTo>
                  <a:cubicBezTo>
                    <a:pt x="5217" y="6719"/>
                    <a:pt x="6719" y="5217"/>
                    <a:pt x="6719" y="3370"/>
                  </a:cubicBezTo>
                  <a:cubicBezTo>
                    <a:pt x="6719" y="1503"/>
                    <a:pt x="5217" y="1"/>
                    <a:pt x="33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8"/>
            <p:cNvSpPr/>
            <p:nvPr/>
          </p:nvSpPr>
          <p:spPr>
            <a:xfrm>
              <a:off x="2491150" y="2812575"/>
              <a:ext cx="86800" cy="122325"/>
            </a:xfrm>
            <a:custGeom>
              <a:avLst/>
              <a:gdLst/>
              <a:ahLst/>
              <a:cxnLst/>
              <a:rect l="l" t="t" r="r" b="b"/>
              <a:pathLst>
                <a:path w="3472" h="4893" extrusionOk="0">
                  <a:moveTo>
                    <a:pt x="102" y="1"/>
                  </a:moveTo>
                  <a:cubicBezTo>
                    <a:pt x="61" y="1"/>
                    <a:pt x="41" y="21"/>
                    <a:pt x="0" y="21"/>
                  </a:cubicBezTo>
                  <a:cubicBezTo>
                    <a:pt x="1827" y="589"/>
                    <a:pt x="3147" y="2294"/>
                    <a:pt x="3147" y="4304"/>
                  </a:cubicBezTo>
                  <a:cubicBezTo>
                    <a:pt x="3147" y="4507"/>
                    <a:pt x="3126" y="4689"/>
                    <a:pt x="3106" y="4892"/>
                  </a:cubicBezTo>
                  <a:cubicBezTo>
                    <a:pt x="3329" y="4426"/>
                    <a:pt x="3471" y="3918"/>
                    <a:pt x="3471" y="3370"/>
                  </a:cubicBezTo>
                  <a:cubicBezTo>
                    <a:pt x="3471" y="1503"/>
                    <a:pt x="1949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8"/>
            <p:cNvSpPr/>
            <p:nvPr/>
          </p:nvSpPr>
          <p:spPr>
            <a:xfrm>
              <a:off x="2468825" y="3032800"/>
              <a:ext cx="112175" cy="124875"/>
            </a:xfrm>
            <a:custGeom>
              <a:avLst/>
              <a:gdLst/>
              <a:ahLst/>
              <a:cxnLst/>
              <a:rect l="l" t="t" r="r" b="b"/>
              <a:pathLst>
                <a:path w="4487" h="4995" extrusionOk="0">
                  <a:moveTo>
                    <a:pt x="995" y="1"/>
                  </a:moveTo>
                  <a:lnTo>
                    <a:pt x="0" y="2031"/>
                  </a:lnTo>
                  <a:lnTo>
                    <a:pt x="3471" y="4994"/>
                  </a:lnTo>
                  <a:lnTo>
                    <a:pt x="4486" y="2254"/>
                  </a:lnTo>
                  <a:lnTo>
                    <a:pt x="9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8"/>
            <p:cNvSpPr/>
            <p:nvPr/>
          </p:nvSpPr>
          <p:spPr>
            <a:xfrm>
              <a:off x="2241375" y="3068325"/>
              <a:ext cx="320675" cy="284350"/>
            </a:xfrm>
            <a:custGeom>
              <a:avLst/>
              <a:gdLst/>
              <a:ahLst/>
              <a:cxnLst/>
              <a:rect l="l" t="t" r="r" b="b"/>
              <a:pathLst>
                <a:path w="12827" h="11374" extrusionOk="0">
                  <a:moveTo>
                    <a:pt x="9078" y="1"/>
                  </a:moveTo>
                  <a:cubicBezTo>
                    <a:pt x="9078" y="1"/>
                    <a:pt x="1974" y="3187"/>
                    <a:pt x="918" y="5968"/>
                  </a:cubicBezTo>
                  <a:cubicBezTo>
                    <a:pt x="1" y="8323"/>
                    <a:pt x="974" y="11373"/>
                    <a:pt x="2250" y="11373"/>
                  </a:cubicBezTo>
                  <a:cubicBezTo>
                    <a:pt x="2470" y="11373"/>
                    <a:pt x="2698" y="11283"/>
                    <a:pt x="2928" y="11083"/>
                  </a:cubicBezTo>
                  <a:cubicBezTo>
                    <a:pt x="4494" y="9758"/>
                    <a:pt x="12115" y="4383"/>
                    <a:pt x="12557" y="4383"/>
                  </a:cubicBezTo>
                  <a:cubicBezTo>
                    <a:pt x="12562" y="4383"/>
                    <a:pt x="12566" y="4384"/>
                    <a:pt x="12569" y="4385"/>
                  </a:cubicBezTo>
                  <a:cubicBezTo>
                    <a:pt x="12576" y="4387"/>
                    <a:pt x="12583" y="4389"/>
                    <a:pt x="12589" y="4389"/>
                  </a:cubicBezTo>
                  <a:cubicBezTo>
                    <a:pt x="12826" y="4389"/>
                    <a:pt x="12285" y="2457"/>
                    <a:pt x="12285" y="2457"/>
                  </a:cubicBezTo>
                  <a:lnTo>
                    <a:pt x="90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8"/>
            <p:cNvSpPr/>
            <p:nvPr/>
          </p:nvSpPr>
          <p:spPr>
            <a:xfrm>
              <a:off x="2127325" y="3042950"/>
              <a:ext cx="143625" cy="232950"/>
            </a:xfrm>
            <a:custGeom>
              <a:avLst/>
              <a:gdLst/>
              <a:ahLst/>
              <a:cxnLst/>
              <a:rect l="l" t="t" r="r" b="b"/>
              <a:pathLst>
                <a:path w="5745" h="9318" extrusionOk="0">
                  <a:moveTo>
                    <a:pt x="1624" y="1"/>
                  </a:moveTo>
                  <a:lnTo>
                    <a:pt x="0" y="1016"/>
                  </a:lnTo>
                  <a:lnTo>
                    <a:pt x="3512" y="9317"/>
                  </a:lnTo>
                  <a:lnTo>
                    <a:pt x="5744" y="8018"/>
                  </a:lnTo>
                  <a:lnTo>
                    <a:pt x="16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8"/>
            <p:cNvSpPr/>
            <p:nvPr/>
          </p:nvSpPr>
          <p:spPr>
            <a:xfrm>
              <a:off x="2457150" y="2908475"/>
              <a:ext cx="146675" cy="203000"/>
            </a:xfrm>
            <a:custGeom>
              <a:avLst/>
              <a:gdLst/>
              <a:ahLst/>
              <a:cxnLst/>
              <a:rect l="l" t="t" r="r" b="b"/>
              <a:pathLst>
                <a:path w="5867" h="8120" extrusionOk="0">
                  <a:moveTo>
                    <a:pt x="2213" y="1"/>
                  </a:moveTo>
                  <a:lnTo>
                    <a:pt x="1" y="1645"/>
                  </a:lnTo>
                  <a:lnTo>
                    <a:pt x="447" y="6395"/>
                  </a:lnTo>
                  <a:lnTo>
                    <a:pt x="3938" y="8120"/>
                  </a:lnTo>
                  <a:lnTo>
                    <a:pt x="5867" y="6395"/>
                  </a:lnTo>
                  <a:lnTo>
                    <a:pt x="4628" y="1401"/>
                  </a:lnTo>
                  <a:lnTo>
                    <a:pt x="22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8"/>
            <p:cNvSpPr/>
            <p:nvPr/>
          </p:nvSpPr>
          <p:spPr>
            <a:xfrm>
              <a:off x="2103975" y="2658325"/>
              <a:ext cx="396850" cy="351675"/>
            </a:xfrm>
            <a:custGeom>
              <a:avLst/>
              <a:gdLst/>
              <a:ahLst/>
              <a:cxnLst/>
              <a:rect l="l" t="t" r="r" b="b"/>
              <a:pathLst>
                <a:path w="15874" h="14067" extrusionOk="0">
                  <a:moveTo>
                    <a:pt x="0" y="0"/>
                  </a:moveTo>
                  <a:lnTo>
                    <a:pt x="1502" y="10311"/>
                  </a:lnTo>
                  <a:lnTo>
                    <a:pt x="10961" y="14066"/>
                  </a:lnTo>
                  <a:lnTo>
                    <a:pt x="15873" y="9276"/>
                  </a:lnTo>
                  <a:lnTo>
                    <a:pt x="15589" y="5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8"/>
            <p:cNvSpPr/>
            <p:nvPr/>
          </p:nvSpPr>
          <p:spPr>
            <a:xfrm>
              <a:off x="2103975" y="2658325"/>
              <a:ext cx="396850" cy="231925"/>
            </a:xfrm>
            <a:custGeom>
              <a:avLst/>
              <a:gdLst/>
              <a:ahLst/>
              <a:cxnLst/>
              <a:rect l="l" t="t" r="r" b="b"/>
              <a:pathLst>
                <a:path w="15874" h="9277" extrusionOk="0">
                  <a:moveTo>
                    <a:pt x="0" y="0"/>
                  </a:moveTo>
                  <a:lnTo>
                    <a:pt x="305" y="2091"/>
                  </a:lnTo>
                  <a:lnTo>
                    <a:pt x="14594" y="6780"/>
                  </a:lnTo>
                  <a:lnTo>
                    <a:pt x="15873" y="9276"/>
                  </a:lnTo>
                  <a:lnTo>
                    <a:pt x="15589" y="5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8"/>
            <p:cNvSpPr/>
            <p:nvPr/>
          </p:nvSpPr>
          <p:spPr>
            <a:xfrm>
              <a:off x="2128325" y="2827800"/>
              <a:ext cx="303475" cy="182200"/>
            </a:xfrm>
            <a:custGeom>
              <a:avLst/>
              <a:gdLst/>
              <a:ahLst/>
              <a:cxnLst/>
              <a:rect l="l" t="t" r="r" b="b"/>
              <a:pathLst>
                <a:path w="12139" h="7288" extrusionOk="0">
                  <a:moveTo>
                    <a:pt x="1" y="1"/>
                  </a:moveTo>
                  <a:lnTo>
                    <a:pt x="528" y="3532"/>
                  </a:lnTo>
                  <a:lnTo>
                    <a:pt x="9987" y="7287"/>
                  </a:lnTo>
                  <a:lnTo>
                    <a:pt x="12139" y="53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8"/>
            <p:cNvSpPr/>
            <p:nvPr/>
          </p:nvSpPr>
          <p:spPr>
            <a:xfrm>
              <a:off x="1742675" y="2677100"/>
              <a:ext cx="369950" cy="586100"/>
            </a:xfrm>
            <a:custGeom>
              <a:avLst/>
              <a:gdLst/>
              <a:ahLst/>
              <a:cxnLst/>
              <a:rect l="l" t="t" r="r" b="b"/>
              <a:pathLst>
                <a:path w="14798" h="23444" extrusionOk="0">
                  <a:moveTo>
                    <a:pt x="14797" y="0"/>
                  </a:moveTo>
                  <a:lnTo>
                    <a:pt x="0" y="13803"/>
                  </a:lnTo>
                  <a:lnTo>
                    <a:pt x="3126" y="23444"/>
                  </a:lnTo>
                  <a:lnTo>
                    <a:pt x="7511" y="21922"/>
                  </a:lnTo>
                  <a:lnTo>
                    <a:pt x="14757" y="10250"/>
                  </a:lnTo>
                  <a:lnTo>
                    <a:pt x="147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8"/>
            <p:cNvSpPr/>
            <p:nvPr/>
          </p:nvSpPr>
          <p:spPr>
            <a:xfrm>
              <a:off x="1803050" y="2812575"/>
              <a:ext cx="308550" cy="450625"/>
            </a:xfrm>
            <a:custGeom>
              <a:avLst/>
              <a:gdLst/>
              <a:ahLst/>
              <a:cxnLst/>
              <a:rect l="l" t="t" r="r" b="b"/>
              <a:pathLst>
                <a:path w="12342" h="18025" extrusionOk="0">
                  <a:moveTo>
                    <a:pt x="12342" y="1"/>
                  </a:moveTo>
                  <a:lnTo>
                    <a:pt x="1" y="15873"/>
                  </a:lnTo>
                  <a:lnTo>
                    <a:pt x="711" y="18025"/>
                  </a:lnTo>
                  <a:lnTo>
                    <a:pt x="5096" y="16503"/>
                  </a:lnTo>
                  <a:lnTo>
                    <a:pt x="12342" y="4831"/>
                  </a:lnTo>
                  <a:lnTo>
                    <a:pt x="123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8"/>
            <p:cNvSpPr/>
            <p:nvPr/>
          </p:nvSpPr>
          <p:spPr>
            <a:xfrm>
              <a:off x="1609225" y="2745100"/>
              <a:ext cx="220750" cy="260850"/>
            </a:xfrm>
            <a:custGeom>
              <a:avLst/>
              <a:gdLst/>
              <a:ahLst/>
              <a:cxnLst/>
              <a:rect l="l" t="t" r="r" b="b"/>
              <a:pathLst>
                <a:path w="8830" h="10434" extrusionOk="0">
                  <a:moveTo>
                    <a:pt x="2619" y="0"/>
                  </a:moveTo>
                  <a:lnTo>
                    <a:pt x="0" y="3552"/>
                  </a:lnTo>
                  <a:lnTo>
                    <a:pt x="8282" y="10433"/>
                  </a:lnTo>
                  <a:lnTo>
                    <a:pt x="8830" y="9804"/>
                  </a:lnTo>
                  <a:lnTo>
                    <a:pt x="26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8"/>
            <p:cNvSpPr/>
            <p:nvPr/>
          </p:nvSpPr>
          <p:spPr>
            <a:xfrm>
              <a:off x="411650" y="3545825"/>
              <a:ext cx="987000" cy="1167150"/>
            </a:xfrm>
            <a:custGeom>
              <a:avLst/>
              <a:gdLst/>
              <a:ahLst/>
              <a:cxnLst/>
              <a:rect l="l" t="t" r="r" b="b"/>
              <a:pathLst>
                <a:path w="39480" h="46686" extrusionOk="0">
                  <a:moveTo>
                    <a:pt x="23242" y="1"/>
                  </a:moveTo>
                  <a:lnTo>
                    <a:pt x="1" y="35176"/>
                  </a:lnTo>
                  <a:lnTo>
                    <a:pt x="31462" y="46685"/>
                  </a:lnTo>
                  <a:lnTo>
                    <a:pt x="39480" y="12971"/>
                  </a:lnTo>
                  <a:lnTo>
                    <a:pt x="232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8"/>
            <p:cNvSpPr/>
            <p:nvPr/>
          </p:nvSpPr>
          <p:spPr>
            <a:xfrm>
              <a:off x="1038350" y="2851750"/>
              <a:ext cx="958575" cy="1010250"/>
            </a:xfrm>
            <a:custGeom>
              <a:avLst/>
              <a:gdLst/>
              <a:ahLst/>
              <a:cxnLst/>
              <a:rect l="l" t="t" r="r" b="b"/>
              <a:pathLst>
                <a:path w="38343" h="40410" extrusionOk="0">
                  <a:moveTo>
                    <a:pt x="20910" y="0"/>
                  </a:moveTo>
                  <a:cubicBezTo>
                    <a:pt x="20694" y="0"/>
                    <a:pt x="20501" y="24"/>
                    <a:pt x="20339" y="78"/>
                  </a:cubicBezTo>
                  <a:cubicBezTo>
                    <a:pt x="18816" y="606"/>
                    <a:pt x="17071" y="1275"/>
                    <a:pt x="16665" y="1742"/>
                  </a:cubicBezTo>
                  <a:cubicBezTo>
                    <a:pt x="15893" y="2574"/>
                    <a:pt x="15731" y="4949"/>
                    <a:pt x="14412" y="6634"/>
                  </a:cubicBezTo>
                  <a:cubicBezTo>
                    <a:pt x="13092" y="8339"/>
                    <a:pt x="0" y="24232"/>
                    <a:pt x="0" y="24232"/>
                  </a:cubicBezTo>
                  <a:lnTo>
                    <a:pt x="427" y="28210"/>
                  </a:lnTo>
                  <a:lnTo>
                    <a:pt x="14960" y="40409"/>
                  </a:lnTo>
                  <a:cubicBezTo>
                    <a:pt x="14960" y="40409"/>
                    <a:pt x="31543" y="35091"/>
                    <a:pt x="34588" y="31925"/>
                  </a:cubicBezTo>
                  <a:cubicBezTo>
                    <a:pt x="37632" y="28779"/>
                    <a:pt x="38343" y="24557"/>
                    <a:pt x="38343" y="24557"/>
                  </a:cubicBezTo>
                  <a:lnTo>
                    <a:pt x="32680" y="13555"/>
                  </a:lnTo>
                  <a:lnTo>
                    <a:pt x="31989" y="6898"/>
                  </a:lnTo>
                  <a:lnTo>
                    <a:pt x="25210" y="1255"/>
                  </a:lnTo>
                  <a:cubicBezTo>
                    <a:pt x="25210" y="1255"/>
                    <a:pt x="22480" y="0"/>
                    <a:pt x="209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8"/>
            <p:cNvSpPr/>
            <p:nvPr/>
          </p:nvSpPr>
          <p:spPr>
            <a:xfrm>
              <a:off x="1299175" y="3440950"/>
              <a:ext cx="697750" cy="400750"/>
            </a:xfrm>
            <a:custGeom>
              <a:avLst/>
              <a:gdLst/>
              <a:ahLst/>
              <a:cxnLst/>
              <a:rect l="l" t="t" r="r" b="b"/>
              <a:pathLst>
                <a:path w="27910" h="16030" extrusionOk="0">
                  <a:moveTo>
                    <a:pt x="2935" y="1"/>
                  </a:moveTo>
                  <a:cubicBezTo>
                    <a:pt x="2147" y="1"/>
                    <a:pt x="1543" y="867"/>
                    <a:pt x="1543" y="867"/>
                  </a:cubicBezTo>
                  <a:cubicBezTo>
                    <a:pt x="0" y="10305"/>
                    <a:pt x="6069" y="15238"/>
                    <a:pt x="6942" y="16029"/>
                  </a:cubicBezTo>
                  <a:cubicBezTo>
                    <a:pt x="11671" y="14426"/>
                    <a:pt x="21841" y="10772"/>
                    <a:pt x="24155" y="8357"/>
                  </a:cubicBezTo>
                  <a:cubicBezTo>
                    <a:pt x="27199" y="5211"/>
                    <a:pt x="27910" y="989"/>
                    <a:pt x="27910" y="989"/>
                  </a:cubicBezTo>
                  <a:lnTo>
                    <a:pt x="27605" y="380"/>
                  </a:lnTo>
                  <a:lnTo>
                    <a:pt x="20379" y="3424"/>
                  </a:lnTo>
                  <a:cubicBezTo>
                    <a:pt x="20379" y="3424"/>
                    <a:pt x="16034" y="1233"/>
                    <a:pt x="12989" y="1233"/>
                  </a:cubicBezTo>
                  <a:cubicBezTo>
                    <a:pt x="12113" y="1233"/>
                    <a:pt x="11345" y="1415"/>
                    <a:pt x="10819" y="1882"/>
                  </a:cubicBezTo>
                  <a:cubicBezTo>
                    <a:pt x="9940" y="2669"/>
                    <a:pt x="8969" y="2999"/>
                    <a:pt x="8031" y="2999"/>
                  </a:cubicBezTo>
                  <a:cubicBezTo>
                    <a:pt x="6477" y="2999"/>
                    <a:pt x="5012" y="2094"/>
                    <a:pt x="4202" y="867"/>
                  </a:cubicBezTo>
                  <a:cubicBezTo>
                    <a:pt x="3769" y="217"/>
                    <a:pt x="3329" y="1"/>
                    <a:pt x="29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8"/>
            <p:cNvSpPr/>
            <p:nvPr/>
          </p:nvSpPr>
          <p:spPr>
            <a:xfrm>
              <a:off x="1187525" y="3150525"/>
              <a:ext cx="162425" cy="180675"/>
            </a:xfrm>
            <a:custGeom>
              <a:avLst/>
              <a:gdLst/>
              <a:ahLst/>
              <a:cxnLst/>
              <a:rect l="l" t="t" r="r" b="b"/>
              <a:pathLst>
                <a:path w="6497" h="7227" extrusionOk="0">
                  <a:moveTo>
                    <a:pt x="6435" y="1"/>
                  </a:moveTo>
                  <a:cubicBezTo>
                    <a:pt x="6435" y="1"/>
                    <a:pt x="6029" y="1665"/>
                    <a:pt x="3959" y="4060"/>
                  </a:cubicBezTo>
                  <a:cubicBezTo>
                    <a:pt x="1868" y="6435"/>
                    <a:pt x="1" y="7227"/>
                    <a:pt x="1" y="7227"/>
                  </a:cubicBezTo>
                  <a:cubicBezTo>
                    <a:pt x="1" y="7227"/>
                    <a:pt x="3046" y="6740"/>
                    <a:pt x="4771" y="4466"/>
                  </a:cubicBezTo>
                  <a:cubicBezTo>
                    <a:pt x="6496" y="2213"/>
                    <a:pt x="6435" y="1"/>
                    <a:pt x="64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8"/>
            <p:cNvSpPr/>
            <p:nvPr/>
          </p:nvSpPr>
          <p:spPr>
            <a:xfrm>
              <a:off x="1821325" y="3009975"/>
              <a:ext cx="33000" cy="171025"/>
            </a:xfrm>
            <a:custGeom>
              <a:avLst/>
              <a:gdLst/>
              <a:ahLst/>
              <a:cxnLst/>
              <a:rect l="l" t="t" r="r" b="b"/>
              <a:pathLst>
                <a:path w="1320" h="6841" extrusionOk="0">
                  <a:moveTo>
                    <a:pt x="1" y="0"/>
                  </a:moveTo>
                  <a:lnTo>
                    <a:pt x="346" y="1502"/>
                  </a:lnTo>
                  <a:lnTo>
                    <a:pt x="589" y="6699"/>
                  </a:lnTo>
                  <a:lnTo>
                    <a:pt x="1320" y="6841"/>
                  </a:lnTo>
                  <a:lnTo>
                    <a:pt x="1320" y="6841"/>
                  </a:lnTo>
                  <a:lnTo>
                    <a:pt x="670" y="56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8"/>
            <p:cNvSpPr/>
            <p:nvPr/>
          </p:nvSpPr>
          <p:spPr>
            <a:xfrm>
              <a:off x="1442275" y="3649850"/>
              <a:ext cx="460775" cy="191850"/>
            </a:xfrm>
            <a:custGeom>
              <a:avLst/>
              <a:gdLst/>
              <a:ahLst/>
              <a:cxnLst/>
              <a:rect l="l" t="t" r="r" b="b"/>
              <a:pathLst>
                <a:path w="18431" h="7674" extrusionOk="0">
                  <a:moveTo>
                    <a:pt x="18431" y="1"/>
                  </a:moveTo>
                  <a:lnTo>
                    <a:pt x="18431" y="1"/>
                  </a:lnTo>
                  <a:cubicBezTo>
                    <a:pt x="18430" y="1"/>
                    <a:pt x="14310" y="2152"/>
                    <a:pt x="9926" y="3776"/>
                  </a:cubicBezTo>
                  <a:cubicBezTo>
                    <a:pt x="5521" y="5420"/>
                    <a:pt x="0" y="6435"/>
                    <a:pt x="0" y="6435"/>
                  </a:cubicBezTo>
                  <a:lnTo>
                    <a:pt x="1218" y="7673"/>
                  </a:lnTo>
                  <a:cubicBezTo>
                    <a:pt x="5947" y="6070"/>
                    <a:pt x="16117" y="2416"/>
                    <a:pt x="184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8"/>
            <p:cNvSpPr/>
            <p:nvPr/>
          </p:nvSpPr>
          <p:spPr>
            <a:xfrm>
              <a:off x="1130700" y="3093200"/>
              <a:ext cx="207050" cy="252225"/>
            </a:xfrm>
            <a:custGeom>
              <a:avLst/>
              <a:gdLst/>
              <a:ahLst/>
              <a:cxnLst/>
              <a:rect l="l" t="t" r="r" b="b"/>
              <a:pathLst>
                <a:path w="8282" h="10089" extrusionOk="0">
                  <a:moveTo>
                    <a:pt x="8282" y="0"/>
                  </a:moveTo>
                  <a:cubicBezTo>
                    <a:pt x="5988" y="2801"/>
                    <a:pt x="2578" y="6942"/>
                    <a:pt x="1" y="10088"/>
                  </a:cubicBezTo>
                  <a:lnTo>
                    <a:pt x="1218" y="10088"/>
                  </a:lnTo>
                  <a:lnTo>
                    <a:pt x="8282" y="1604"/>
                  </a:lnTo>
                  <a:lnTo>
                    <a:pt x="82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8"/>
            <p:cNvSpPr/>
            <p:nvPr/>
          </p:nvSpPr>
          <p:spPr>
            <a:xfrm>
              <a:off x="1674675" y="3399175"/>
              <a:ext cx="322250" cy="255225"/>
            </a:xfrm>
            <a:custGeom>
              <a:avLst/>
              <a:gdLst/>
              <a:ahLst/>
              <a:cxnLst/>
              <a:rect l="l" t="t" r="r" b="b"/>
              <a:pathLst>
                <a:path w="12890" h="10209" extrusionOk="0">
                  <a:moveTo>
                    <a:pt x="11509" y="1"/>
                  </a:moveTo>
                  <a:lnTo>
                    <a:pt x="1" y="9987"/>
                  </a:lnTo>
                  <a:cubicBezTo>
                    <a:pt x="1" y="9987"/>
                    <a:pt x="1571" y="10209"/>
                    <a:pt x="3775" y="10209"/>
                  </a:cubicBezTo>
                  <a:cubicBezTo>
                    <a:pt x="5460" y="10209"/>
                    <a:pt x="7515" y="10079"/>
                    <a:pt x="9520" y="9622"/>
                  </a:cubicBezTo>
                  <a:cubicBezTo>
                    <a:pt x="12240" y="6516"/>
                    <a:pt x="12890" y="2660"/>
                    <a:pt x="12890" y="2660"/>
                  </a:cubicBezTo>
                  <a:lnTo>
                    <a:pt x="115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8"/>
            <p:cNvSpPr/>
            <p:nvPr/>
          </p:nvSpPr>
          <p:spPr>
            <a:xfrm>
              <a:off x="1674675" y="2483750"/>
              <a:ext cx="466875" cy="506450"/>
            </a:xfrm>
            <a:custGeom>
              <a:avLst/>
              <a:gdLst/>
              <a:ahLst/>
              <a:cxnLst/>
              <a:rect l="l" t="t" r="r" b="b"/>
              <a:pathLst>
                <a:path w="18675" h="20258" extrusionOk="0">
                  <a:moveTo>
                    <a:pt x="14777" y="1"/>
                  </a:moveTo>
                  <a:lnTo>
                    <a:pt x="12220" y="224"/>
                  </a:lnTo>
                  <a:lnTo>
                    <a:pt x="1" y="10454"/>
                  </a:lnTo>
                  <a:lnTo>
                    <a:pt x="731" y="15021"/>
                  </a:lnTo>
                  <a:lnTo>
                    <a:pt x="6212" y="20258"/>
                  </a:lnTo>
                  <a:lnTo>
                    <a:pt x="7511" y="20258"/>
                  </a:lnTo>
                  <a:lnTo>
                    <a:pt x="18674" y="7734"/>
                  </a:lnTo>
                  <a:lnTo>
                    <a:pt x="18674" y="5035"/>
                  </a:lnTo>
                  <a:lnTo>
                    <a:pt x="147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8"/>
            <p:cNvSpPr/>
            <p:nvPr/>
          </p:nvSpPr>
          <p:spPr>
            <a:xfrm>
              <a:off x="2062350" y="2248825"/>
              <a:ext cx="431350" cy="358275"/>
            </a:xfrm>
            <a:custGeom>
              <a:avLst/>
              <a:gdLst/>
              <a:ahLst/>
              <a:cxnLst/>
              <a:rect l="l" t="t" r="r" b="b"/>
              <a:pathLst>
                <a:path w="17254" h="14331" extrusionOk="0">
                  <a:moveTo>
                    <a:pt x="12971" y="0"/>
                  </a:moveTo>
                  <a:lnTo>
                    <a:pt x="630" y="6658"/>
                  </a:lnTo>
                  <a:lnTo>
                    <a:pt x="1" y="8972"/>
                  </a:lnTo>
                  <a:lnTo>
                    <a:pt x="4000" y="13924"/>
                  </a:lnTo>
                  <a:lnTo>
                    <a:pt x="6374" y="14330"/>
                  </a:lnTo>
                  <a:lnTo>
                    <a:pt x="16970" y="7165"/>
                  </a:lnTo>
                  <a:lnTo>
                    <a:pt x="17254" y="4689"/>
                  </a:lnTo>
                  <a:lnTo>
                    <a:pt x="15001" y="568"/>
                  </a:lnTo>
                  <a:lnTo>
                    <a:pt x="129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8"/>
            <p:cNvSpPr/>
            <p:nvPr/>
          </p:nvSpPr>
          <p:spPr>
            <a:xfrm>
              <a:off x="2457150" y="2156650"/>
              <a:ext cx="367575" cy="240350"/>
            </a:xfrm>
            <a:custGeom>
              <a:avLst/>
              <a:gdLst/>
              <a:ahLst/>
              <a:cxnLst/>
              <a:rect l="l" t="t" r="r" b="b"/>
              <a:pathLst>
                <a:path w="14703" h="9614" extrusionOk="0">
                  <a:moveTo>
                    <a:pt x="12878" y="1"/>
                  </a:moveTo>
                  <a:cubicBezTo>
                    <a:pt x="12768" y="1"/>
                    <a:pt x="12657" y="11"/>
                    <a:pt x="12544" y="33"/>
                  </a:cubicBezTo>
                  <a:lnTo>
                    <a:pt x="1807" y="2104"/>
                  </a:lnTo>
                  <a:lnTo>
                    <a:pt x="1" y="3971"/>
                  </a:lnTo>
                  <a:lnTo>
                    <a:pt x="2132" y="8254"/>
                  </a:lnTo>
                  <a:lnTo>
                    <a:pt x="3837" y="9614"/>
                  </a:lnTo>
                  <a:lnTo>
                    <a:pt x="9967" y="7564"/>
                  </a:lnTo>
                  <a:cubicBezTo>
                    <a:pt x="12463" y="6732"/>
                    <a:pt x="14249" y="4540"/>
                    <a:pt x="14574" y="1921"/>
                  </a:cubicBezTo>
                  <a:cubicBezTo>
                    <a:pt x="14702" y="879"/>
                    <a:pt x="13874" y="1"/>
                    <a:pt x="128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8"/>
            <p:cNvSpPr/>
            <p:nvPr/>
          </p:nvSpPr>
          <p:spPr>
            <a:xfrm>
              <a:off x="1630525" y="3068325"/>
              <a:ext cx="600325" cy="554150"/>
            </a:xfrm>
            <a:custGeom>
              <a:avLst/>
              <a:gdLst/>
              <a:ahLst/>
              <a:cxnLst/>
              <a:rect l="l" t="t" r="r" b="b"/>
              <a:pathLst>
                <a:path w="24013" h="22166" extrusionOk="0">
                  <a:moveTo>
                    <a:pt x="19202" y="1"/>
                  </a:moveTo>
                  <a:lnTo>
                    <a:pt x="1" y="10068"/>
                  </a:lnTo>
                  <a:lnTo>
                    <a:pt x="6841" y="22166"/>
                  </a:lnTo>
                  <a:cubicBezTo>
                    <a:pt x="6841" y="22166"/>
                    <a:pt x="23628" y="8728"/>
                    <a:pt x="23728" y="8728"/>
                  </a:cubicBezTo>
                  <a:cubicBezTo>
                    <a:pt x="23728" y="8728"/>
                    <a:pt x="23729" y="8728"/>
                    <a:pt x="23729" y="8729"/>
                  </a:cubicBezTo>
                  <a:cubicBezTo>
                    <a:pt x="23729" y="8730"/>
                    <a:pt x="23729" y="8731"/>
                    <a:pt x="23729" y="8731"/>
                  </a:cubicBezTo>
                  <a:cubicBezTo>
                    <a:pt x="23741" y="8731"/>
                    <a:pt x="24013" y="6942"/>
                    <a:pt x="24013" y="6942"/>
                  </a:cubicBezTo>
                  <a:lnTo>
                    <a:pt x="204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8"/>
            <p:cNvSpPr/>
            <p:nvPr/>
          </p:nvSpPr>
          <p:spPr>
            <a:xfrm>
              <a:off x="2167900" y="2926925"/>
              <a:ext cx="374025" cy="324100"/>
            </a:xfrm>
            <a:custGeom>
              <a:avLst/>
              <a:gdLst/>
              <a:ahLst/>
              <a:cxnLst/>
              <a:rect l="l" t="t" r="r" b="b"/>
              <a:pathLst>
                <a:path w="14961" h="12964" extrusionOk="0">
                  <a:moveTo>
                    <a:pt x="10957" y="1"/>
                  </a:moveTo>
                  <a:cubicBezTo>
                    <a:pt x="7302" y="1"/>
                    <a:pt x="1" y="4175"/>
                    <a:pt x="1" y="4175"/>
                  </a:cubicBezTo>
                  <a:lnTo>
                    <a:pt x="1" y="5657"/>
                  </a:lnTo>
                  <a:lnTo>
                    <a:pt x="3066" y="12071"/>
                  </a:lnTo>
                  <a:lnTo>
                    <a:pt x="4629" y="12964"/>
                  </a:lnTo>
                  <a:cubicBezTo>
                    <a:pt x="4629" y="12964"/>
                    <a:pt x="10332" y="8803"/>
                    <a:pt x="11916" y="7098"/>
                  </a:cubicBezTo>
                  <a:cubicBezTo>
                    <a:pt x="13479" y="5413"/>
                    <a:pt x="14960" y="2084"/>
                    <a:pt x="12362" y="339"/>
                  </a:cubicBezTo>
                  <a:cubicBezTo>
                    <a:pt x="12011" y="103"/>
                    <a:pt x="11528" y="1"/>
                    <a:pt x="109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8"/>
            <p:cNvSpPr/>
            <p:nvPr/>
          </p:nvSpPr>
          <p:spPr>
            <a:xfrm>
              <a:off x="1742675" y="2998300"/>
              <a:ext cx="770825" cy="624175"/>
            </a:xfrm>
            <a:custGeom>
              <a:avLst/>
              <a:gdLst/>
              <a:ahLst/>
              <a:cxnLst/>
              <a:rect l="l" t="t" r="r" b="b"/>
              <a:pathLst>
                <a:path w="30833" h="24967" extrusionOk="0">
                  <a:moveTo>
                    <a:pt x="30772" y="1"/>
                  </a:moveTo>
                  <a:lnTo>
                    <a:pt x="30772" y="1"/>
                  </a:lnTo>
                  <a:cubicBezTo>
                    <a:pt x="30163" y="1198"/>
                    <a:pt x="28965" y="3086"/>
                    <a:pt x="26976" y="4527"/>
                  </a:cubicBezTo>
                  <a:cubicBezTo>
                    <a:pt x="23850" y="6780"/>
                    <a:pt x="22389" y="7511"/>
                    <a:pt x="22389" y="7511"/>
                  </a:cubicBezTo>
                  <a:lnTo>
                    <a:pt x="21678" y="5664"/>
                  </a:lnTo>
                  <a:lnTo>
                    <a:pt x="16401" y="9317"/>
                  </a:lnTo>
                  <a:lnTo>
                    <a:pt x="17862" y="10596"/>
                  </a:lnTo>
                  <a:lnTo>
                    <a:pt x="5846" y="19385"/>
                  </a:lnTo>
                  <a:cubicBezTo>
                    <a:pt x="5846" y="19385"/>
                    <a:pt x="5197" y="17741"/>
                    <a:pt x="4547" y="16624"/>
                  </a:cubicBezTo>
                  <a:cubicBezTo>
                    <a:pt x="4515" y="16566"/>
                    <a:pt x="4461" y="16539"/>
                    <a:pt x="4388" y="16539"/>
                  </a:cubicBezTo>
                  <a:cubicBezTo>
                    <a:pt x="3770" y="16539"/>
                    <a:pt x="1780" y="18516"/>
                    <a:pt x="0" y="20785"/>
                  </a:cubicBezTo>
                  <a:lnTo>
                    <a:pt x="2355" y="24967"/>
                  </a:lnTo>
                  <a:cubicBezTo>
                    <a:pt x="2355" y="24967"/>
                    <a:pt x="19142" y="11529"/>
                    <a:pt x="19242" y="11529"/>
                  </a:cubicBezTo>
                  <a:cubicBezTo>
                    <a:pt x="19242" y="11529"/>
                    <a:pt x="19243" y="11529"/>
                    <a:pt x="19243" y="11530"/>
                  </a:cubicBezTo>
                  <a:cubicBezTo>
                    <a:pt x="19243" y="11531"/>
                    <a:pt x="19243" y="11532"/>
                    <a:pt x="19243" y="11532"/>
                  </a:cubicBezTo>
                  <a:cubicBezTo>
                    <a:pt x="19255" y="11532"/>
                    <a:pt x="19527" y="9743"/>
                    <a:pt x="19527" y="9743"/>
                  </a:cubicBezTo>
                  <a:lnTo>
                    <a:pt x="19466" y="9642"/>
                  </a:lnTo>
                  <a:cubicBezTo>
                    <a:pt x="19730" y="9540"/>
                    <a:pt x="19973" y="9419"/>
                    <a:pt x="20176" y="9277"/>
                  </a:cubicBezTo>
                  <a:lnTo>
                    <a:pt x="21638" y="10109"/>
                  </a:lnTo>
                  <a:cubicBezTo>
                    <a:pt x="21638" y="10109"/>
                    <a:pt x="27341" y="5948"/>
                    <a:pt x="28925" y="4243"/>
                  </a:cubicBezTo>
                  <a:cubicBezTo>
                    <a:pt x="29899" y="3208"/>
                    <a:pt x="30833" y="1543"/>
                    <a:pt x="307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8"/>
            <p:cNvSpPr/>
            <p:nvPr/>
          </p:nvSpPr>
          <p:spPr>
            <a:xfrm>
              <a:off x="1793425" y="3269275"/>
              <a:ext cx="433375" cy="353200"/>
            </a:xfrm>
            <a:custGeom>
              <a:avLst/>
              <a:gdLst/>
              <a:ahLst/>
              <a:cxnLst/>
              <a:rect l="l" t="t" r="r" b="b"/>
              <a:pathLst>
                <a:path w="17335" h="14128" extrusionOk="0">
                  <a:moveTo>
                    <a:pt x="17334" y="0"/>
                  </a:moveTo>
                  <a:lnTo>
                    <a:pt x="0" y="13194"/>
                  </a:lnTo>
                  <a:lnTo>
                    <a:pt x="325" y="14128"/>
                  </a:lnTo>
                  <a:lnTo>
                    <a:pt x="17213" y="691"/>
                  </a:lnTo>
                  <a:lnTo>
                    <a:pt x="17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8"/>
            <p:cNvSpPr/>
            <p:nvPr/>
          </p:nvSpPr>
          <p:spPr>
            <a:xfrm>
              <a:off x="1535125" y="3314950"/>
              <a:ext cx="336475" cy="336450"/>
            </a:xfrm>
            <a:custGeom>
              <a:avLst/>
              <a:gdLst/>
              <a:ahLst/>
              <a:cxnLst/>
              <a:rect l="l" t="t" r="r" b="b"/>
              <a:pathLst>
                <a:path w="13459" h="13458" extrusionOk="0">
                  <a:moveTo>
                    <a:pt x="6719" y="0"/>
                  </a:moveTo>
                  <a:cubicBezTo>
                    <a:pt x="3005" y="0"/>
                    <a:pt x="1" y="3004"/>
                    <a:pt x="1" y="6719"/>
                  </a:cubicBezTo>
                  <a:cubicBezTo>
                    <a:pt x="1" y="10433"/>
                    <a:pt x="3005" y="13458"/>
                    <a:pt x="6719" y="13458"/>
                  </a:cubicBezTo>
                  <a:cubicBezTo>
                    <a:pt x="10434" y="13458"/>
                    <a:pt x="13458" y="10433"/>
                    <a:pt x="13458" y="6719"/>
                  </a:cubicBezTo>
                  <a:cubicBezTo>
                    <a:pt x="13458" y="3004"/>
                    <a:pt x="10434" y="0"/>
                    <a:pt x="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8"/>
            <p:cNvSpPr/>
            <p:nvPr/>
          </p:nvSpPr>
          <p:spPr>
            <a:xfrm>
              <a:off x="2111575" y="3070350"/>
              <a:ext cx="174600" cy="174600"/>
            </a:xfrm>
            <a:custGeom>
              <a:avLst/>
              <a:gdLst/>
              <a:ahLst/>
              <a:cxnLst/>
              <a:rect l="l" t="t" r="r" b="b"/>
              <a:pathLst>
                <a:path w="6984" h="6984" extrusionOk="0">
                  <a:moveTo>
                    <a:pt x="3492" y="1"/>
                  </a:moveTo>
                  <a:cubicBezTo>
                    <a:pt x="1564" y="1"/>
                    <a:pt x="1" y="1564"/>
                    <a:pt x="1" y="3492"/>
                  </a:cubicBezTo>
                  <a:cubicBezTo>
                    <a:pt x="1" y="5420"/>
                    <a:pt x="1564" y="6983"/>
                    <a:pt x="3492" y="6983"/>
                  </a:cubicBezTo>
                  <a:cubicBezTo>
                    <a:pt x="5420" y="6983"/>
                    <a:pt x="6983" y="5420"/>
                    <a:pt x="6983" y="3492"/>
                  </a:cubicBezTo>
                  <a:cubicBezTo>
                    <a:pt x="6983" y="1564"/>
                    <a:pt x="5420" y="1"/>
                    <a:pt x="34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8"/>
            <p:cNvSpPr/>
            <p:nvPr/>
          </p:nvSpPr>
          <p:spPr>
            <a:xfrm>
              <a:off x="2127325" y="3079500"/>
              <a:ext cx="149700" cy="119775"/>
            </a:xfrm>
            <a:custGeom>
              <a:avLst/>
              <a:gdLst/>
              <a:ahLst/>
              <a:cxnLst/>
              <a:rect l="l" t="t" r="r" b="b"/>
              <a:pathLst>
                <a:path w="5988" h="4791" extrusionOk="0">
                  <a:moveTo>
                    <a:pt x="2862" y="0"/>
                  </a:moveTo>
                  <a:cubicBezTo>
                    <a:pt x="1583" y="0"/>
                    <a:pt x="467" y="772"/>
                    <a:pt x="0" y="1888"/>
                  </a:cubicBezTo>
                  <a:cubicBezTo>
                    <a:pt x="548" y="1015"/>
                    <a:pt x="1522" y="426"/>
                    <a:pt x="2639" y="426"/>
                  </a:cubicBezTo>
                  <a:cubicBezTo>
                    <a:pt x="4364" y="426"/>
                    <a:pt x="5765" y="1827"/>
                    <a:pt x="5765" y="3552"/>
                  </a:cubicBezTo>
                  <a:cubicBezTo>
                    <a:pt x="5765" y="3999"/>
                    <a:pt x="5663" y="4405"/>
                    <a:pt x="5501" y="4790"/>
                  </a:cubicBezTo>
                  <a:cubicBezTo>
                    <a:pt x="5805" y="4303"/>
                    <a:pt x="5988" y="3735"/>
                    <a:pt x="5988" y="3126"/>
                  </a:cubicBezTo>
                  <a:cubicBezTo>
                    <a:pt x="5988" y="1401"/>
                    <a:pt x="4587" y="0"/>
                    <a:pt x="2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8"/>
            <p:cNvSpPr/>
            <p:nvPr/>
          </p:nvSpPr>
          <p:spPr>
            <a:xfrm>
              <a:off x="1569625" y="3336250"/>
              <a:ext cx="279625" cy="223800"/>
            </a:xfrm>
            <a:custGeom>
              <a:avLst/>
              <a:gdLst/>
              <a:ahLst/>
              <a:cxnLst/>
              <a:rect l="l" t="t" r="r" b="b"/>
              <a:pathLst>
                <a:path w="11185" h="8952" extrusionOk="0">
                  <a:moveTo>
                    <a:pt x="5360" y="1"/>
                  </a:moveTo>
                  <a:cubicBezTo>
                    <a:pt x="2964" y="1"/>
                    <a:pt x="894" y="1462"/>
                    <a:pt x="1" y="3533"/>
                  </a:cubicBezTo>
                  <a:cubicBezTo>
                    <a:pt x="1036" y="1909"/>
                    <a:pt x="2863" y="813"/>
                    <a:pt x="4933" y="813"/>
                  </a:cubicBezTo>
                  <a:cubicBezTo>
                    <a:pt x="8140" y="813"/>
                    <a:pt x="10759" y="3431"/>
                    <a:pt x="10759" y="6638"/>
                  </a:cubicBezTo>
                  <a:cubicBezTo>
                    <a:pt x="10759" y="7470"/>
                    <a:pt x="10596" y="8242"/>
                    <a:pt x="10292" y="8952"/>
                  </a:cubicBezTo>
                  <a:cubicBezTo>
                    <a:pt x="10860" y="8059"/>
                    <a:pt x="11185" y="6983"/>
                    <a:pt x="11185" y="5846"/>
                  </a:cubicBezTo>
                  <a:cubicBezTo>
                    <a:pt x="11185" y="2619"/>
                    <a:pt x="8587" y="1"/>
                    <a:pt x="53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8"/>
            <p:cNvSpPr/>
            <p:nvPr/>
          </p:nvSpPr>
          <p:spPr>
            <a:xfrm>
              <a:off x="1324025" y="3150525"/>
              <a:ext cx="532350" cy="695225"/>
            </a:xfrm>
            <a:custGeom>
              <a:avLst/>
              <a:gdLst/>
              <a:ahLst/>
              <a:cxnLst/>
              <a:rect l="l" t="t" r="r" b="b"/>
              <a:pathLst>
                <a:path w="21294" h="27809" extrusionOk="0">
                  <a:moveTo>
                    <a:pt x="15813" y="1"/>
                  </a:moveTo>
                  <a:cubicBezTo>
                    <a:pt x="7105" y="1"/>
                    <a:pt x="1" y="7085"/>
                    <a:pt x="1" y="15813"/>
                  </a:cubicBezTo>
                  <a:cubicBezTo>
                    <a:pt x="1" y="20603"/>
                    <a:pt x="2152" y="24886"/>
                    <a:pt x="5522" y="27809"/>
                  </a:cubicBezTo>
                  <a:cubicBezTo>
                    <a:pt x="5765" y="27727"/>
                    <a:pt x="6009" y="27626"/>
                    <a:pt x="6273" y="27545"/>
                  </a:cubicBezTo>
                  <a:cubicBezTo>
                    <a:pt x="2863" y="24764"/>
                    <a:pt x="691" y="20542"/>
                    <a:pt x="691" y="15813"/>
                  </a:cubicBezTo>
                  <a:cubicBezTo>
                    <a:pt x="691" y="7450"/>
                    <a:pt x="7470" y="671"/>
                    <a:pt x="15813" y="671"/>
                  </a:cubicBezTo>
                  <a:cubicBezTo>
                    <a:pt x="17761" y="671"/>
                    <a:pt x="19608" y="1036"/>
                    <a:pt x="21293" y="1706"/>
                  </a:cubicBezTo>
                  <a:lnTo>
                    <a:pt x="21253" y="1604"/>
                  </a:lnTo>
                  <a:lnTo>
                    <a:pt x="21171" y="935"/>
                  </a:lnTo>
                  <a:cubicBezTo>
                    <a:pt x="19507" y="326"/>
                    <a:pt x="17700" y="1"/>
                    <a:pt x="158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8"/>
            <p:cNvSpPr/>
            <p:nvPr/>
          </p:nvSpPr>
          <p:spPr>
            <a:xfrm>
              <a:off x="927725" y="3772150"/>
              <a:ext cx="348625" cy="799750"/>
            </a:xfrm>
            <a:custGeom>
              <a:avLst/>
              <a:gdLst/>
              <a:ahLst/>
              <a:cxnLst/>
              <a:rect l="l" t="t" r="r" b="b"/>
              <a:pathLst>
                <a:path w="13945" h="31990" extrusionOk="0">
                  <a:moveTo>
                    <a:pt x="13945" y="0"/>
                  </a:moveTo>
                  <a:lnTo>
                    <a:pt x="0" y="31989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8"/>
            <p:cNvSpPr/>
            <p:nvPr/>
          </p:nvSpPr>
          <p:spPr>
            <a:xfrm>
              <a:off x="1773125" y="2566475"/>
              <a:ext cx="334425" cy="369425"/>
            </a:xfrm>
            <a:custGeom>
              <a:avLst/>
              <a:gdLst/>
              <a:ahLst/>
              <a:cxnLst/>
              <a:rect l="l" t="t" r="r" b="b"/>
              <a:pathLst>
                <a:path w="13377" h="14777" extrusionOk="0">
                  <a:moveTo>
                    <a:pt x="0" y="14777"/>
                  </a:moveTo>
                  <a:lnTo>
                    <a:pt x="13376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8"/>
            <p:cNvSpPr/>
            <p:nvPr/>
          </p:nvSpPr>
          <p:spPr>
            <a:xfrm>
              <a:off x="2127325" y="2341675"/>
              <a:ext cx="353200" cy="211625"/>
            </a:xfrm>
            <a:custGeom>
              <a:avLst/>
              <a:gdLst/>
              <a:ahLst/>
              <a:cxnLst/>
              <a:rect l="l" t="t" r="r" b="b"/>
              <a:pathLst>
                <a:path w="14128" h="8465" extrusionOk="0">
                  <a:moveTo>
                    <a:pt x="0" y="8465"/>
                  </a:moveTo>
                  <a:lnTo>
                    <a:pt x="1412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8"/>
            <p:cNvSpPr/>
            <p:nvPr/>
          </p:nvSpPr>
          <p:spPr>
            <a:xfrm>
              <a:off x="2492675" y="2220900"/>
              <a:ext cx="325800" cy="121300"/>
            </a:xfrm>
            <a:custGeom>
              <a:avLst/>
              <a:gdLst/>
              <a:ahLst/>
              <a:cxnLst/>
              <a:rect l="l" t="t" r="r" b="b"/>
              <a:pathLst>
                <a:path w="13032" h="4852" extrusionOk="0">
                  <a:moveTo>
                    <a:pt x="13031" y="1"/>
                  </a:moveTo>
                  <a:lnTo>
                    <a:pt x="0" y="4243"/>
                  </a:lnTo>
                  <a:lnTo>
                    <a:pt x="305" y="4852"/>
                  </a:lnTo>
                  <a:lnTo>
                    <a:pt x="12808" y="772"/>
                  </a:lnTo>
                  <a:cubicBezTo>
                    <a:pt x="12910" y="528"/>
                    <a:pt x="12971" y="265"/>
                    <a:pt x="130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8"/>
            <p:cNvSpPr/>
            <p:nvPr/>
          </p:nvSpPr>
          <p:spPr>
            <a:xfrm>
              <a:off x="1038350" y="3810725"/>
              <a:ext cx="360300" cy="902250"/>
            </a:xfrm>
            <a:custGeom>
              <a:avLst/>
              <a:gdLst/>
              <a:ahLst/>
              <a:cxnLst/>
              <a:rect l="l" t="t" r="r" b="b"/>
              <a:pathLst>
                <a:path w="14412" h="36090" extrusionOk="0">
                  <a:moveTo>
                    <a:pt x="11428" y="0"/>
                  </a:moveTo>
                  <a:lnTo>
                    <a:pt x="0" y="33735"/>
                  </a:lnTo>
                  <a:lnTo>
                    <a:pt x="6394" y="36089"/>
                  </a:lnTo>
                  <a:lnTo>
                    <a:pt x="14412" y="2375"/>
                  </a:lnTo>
                  <a:lnTo>
                    <a:pt x="114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8"/>
            <p:cNvSpPr/>
            <p:nvPr/>
          </p:nvSpPr>
          <p:spPr>
            <a:xfrm>
              <a:off x="2342475" y="3201775"/>
              <a:ext cx="310575" cy="324800"/>
            </a:xfrm>
            <a:custGeom>
              <a:avLst/>
              <a:gdLst/>
              <a:ahLst/>
              <a:cxnLst/>
              <a:rect l="l" t="t" r="r" b="b"/>
              <a:pathLst>
                <a:path w="12423" h="12992" extrusionOk="0">
                  <a:moveTo>
                    <a:pt x="11286" y="1"/>
                  </a:moveTo>
                  <a:lnTo>
                    <a:pt x="0" y="12991"/>
                  </a:lnTo>
                  <a:cubicBezTo>
                    <a:pt x="3025" y="11286"/>
                    <a:pt x="12422" y="2457"/>
                    <a:pt x="12422" y="2457"/>
                  </a:cubicBezTo>
                  <a:lnTo>
                    <a:pt x="112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8"/>
            <p:cNvSpPr/>
            <p:nvPr/>
          </p:nvSpPr>
          <p:spPr>
            <a:xfrm>
              <a:off x="2261775" y="3182500"/>
              <a:ext cx="284200" cy="170200"/>
            </a:xfrm>
            <a:custGeom>
              <a:avLst/>
              <a:gdLst/>
              <a:ahLst/>
              <a:cxnLst/>
              <a:rect l="l" t="t" r="r" b="b"/>
              <a:pathLst>
                <a:path w="11368" h="6808" extrusionOk="0">
                  <a:moveTo>
                    <a:pt x="11368" y="1"/>
                  </a:moveTo>
                  <a:lnTo>
                    <a:pt x="1" y="5176"/>
                  </a:lnTo>
                  <a:cubicBezTo>
                    <a:pt x="298" y="6128"/>
                    <a:pt x="835" y="6807"/>
                    <a:pt x="1437" y="6807"/>
                  </a:cubicBezTo>
                  <a:cubicBezTo>
                    <a:pt x="1656" y="6807"/>
                    <a:pt x="1884" y="6717"/>
                    <a:pt x="2112" y="6516"/>
                  </a:cubicBezTo>
                  <a:cubicBezTo>
                    <a:pt x="3512" y="5319"/>
                    <a:pt x="9724" y="934"/>
                    <a:pt x="113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8"/>
            <p:cNvSpPr/>
            <p:nvPr/>
          </p:nvSpPr>
          <p:spPr>
            <a:xfrm>
              <a:off x="2512450" y="2908475"/>
              <a:ext cx="91375" cy="203000"/>
            </a:xfrm>
            <a:custGeom>
              <a:avLst/>
              <a:gdLst/>
              <a:ahLst/>
              <a:cxnLst/>
              <a:rect l="l" t="t" r="r" b="b"/>
              <a:pathLst>
                <a:path w="3655" h="8120" extrusionOk="0">
                  <a:moveTo>
                    <a:pt x="1" y="1"/>
                  </a:moveTo>
                  <a:lnTo>
                    <a:pt x="1625" y="1747"/>
                  </a:lnTo>
                  <a:lnTo>
                    <a:pt x="2741" y="5684"/>
                  </a:lnTo>
                  <a:lnTo>
                    <a:pt x="1726" y="8120"/>
                  </a:lnTo>
                  <a:lnTo>
                    <a:pt x="3655" y="6395"/>
                  </a:lnTo>
                  <a:lnTo>
                    <a:pt x="2416" y="14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8"/>
            <p:cNvSpPr/>
            <p:nvPr/>
          </p:nvSpPr>
          <p:spPr>
            <a:xfrm>
              <a:off x="2162325" y="2366025"/>
              <a:ext cx="331375" cy="241075"/>
            </a:xfrm>
            <a:custGeom>
              <a:avLst/>
              <a:gdLst/>
              <a:ahLst/>
              <a:cxnLst/>
              <a:rect l="l" t="t" r="r" b="b"/>
              <a:pathLst>
                <a:path w="13255" h="9643" extrusionOk="0">
                  <a:moveTo>
                    <a:pt x="13255" y="1"/>
                  </a:moveTo>
                  <a:lnTo>
                    <a:pt x="1" y="9236"/>
                  </a:lnTo>
                  <a:lnTo>
                    <a:pt x="2375" y="9642"/>
                  </a:lnTo>
                  <a:lnTo>
                    <a:pt x="12971" y="2477"/>
                  </a:lnTo>
                  <a:lnTo>
                    <a:pt x="13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8"/>
            <p:cNvSpPr/>
            <p:nvPr/>
          </p:nvSpPr>
          <p:spPr>
            <a:xfrm>
              <a:off x="1829950" y="2609600"/>
              <a:ext cx="311600" cy="380600"/>
            </a:xfrm>
            <a:custGeom>
              <a:avLst/>
              <a:gdLst/>
              <a:ahLst/>
              <a:cxnLst/>
              <a:rect l="l" t="t" r="r" b="b"/>
              <a:pathLst>
                <a:path w="12464" h="15224" extrusionOk="0">
                  <a:moveTo>
                    <a:pt x="12463" y="1"/>
                  </a:moveTo>
                  <a:lnTo>
                    <a:pt x="1" y="15224"/>
                  </a:lnTo>
                  <a:lnTo>
                    <a:pt x="1300" y="15224"/>
                  </a:lnTo>
                  <a:lnTo>
                    <a:pt x="12463" y="2700"/>
                  </a:lnTo>
                  <a:lnTo>
                    <a:pt x="12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8"/>
            <p:cNvSpPr/>
            <p:nvPr/>
          </p:nvSpPr>
          <p:spPr>
            <a:xfrm>
              <a:off x="2510425" y="2261500"/>
              <a:ext cx="293850" cy="135500"/>
            </a:xfrm>
            <a:custGeom>
              <a:avLst/>
              <a:gdLst/>
              <a:ahLst/>
              <a:cxnLst/>
              <a:rect l="l" t="t" r="r" b="b"/>
              <a:pathLst>
                <a:path w="11754" h="5420" extrusionOk="0">
                  <a:moveTo>
                    <a:pt x="11753" y="0"/>
                  </a:moveTo>
                  <a:lnTo>
                    <a:pt x="11753" y="0"/>
                  </a:lnTo>
                  <a:cubicBezTo>
                    <a:pt x="11733" y="0"/>
                    <a:pt x="9784" y="995"/>
                    <a:pt x="7206" y="1929"/>
                  </a:cubicBezTo>
                  <a:cubicBezTo>
                    <a:pt x="4629" y="2842"/>
                    <a:pt x="1" y="4060"/>
                    <a:pt x="1" y="4060"/>
                  </a:cubicBezTo>
                  <a:lnTo>
                    <a:pt x="1706" y="5420"/>
                  </a:lnTo>
                  <a:lnTo>
                    <a:pt x="7836" y="3370"/>
                  </a:lnTo>
                  <a:cubicBezTo>
                    <a:pt x="9561" y="2802"/>
                    <a:pt x="10941" y="1563"/>
                    <a:pt x="117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8"/>
            <p:cNvSpPr/>
            <p:nvPr/>
          </p:nvSpPr>
          <p:spPr>
            <a:xfrm>
              <a:off x="2468825" y="3251000"/>
              <a:ext cx="184225" cy="177625"/>
            </a:xfrm>
            <a:custGeom>
              <a:avLst/>
              <a:gdLst/>
              <a:ahLst/>
              <a:cxnLst/>
              <a:rect l="l" t="t" r="r" b="b"/>
              <a:pathLst>
                <a:path w="7369" h="7105" extrusionOk="0">
                  <a:moveTo>
                    <a:pt x="7145" y="1"/>
                  </a:moveTo>
                  <a:lnTo>
                    <a:pt x="0" y="7105"/>
                  </a:lnTo>
                  <a:cubicBezTo>
                    <a:pt x="3552" y="4060"/>
                    <a:pt x="7368" y="488"/>
                    <a:pt x="7368" y="488"/>
                  </a:cubicBezTo>
                  <a:lnTo>
                    <a:pt x="71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8"/>
            <p:cNvSpPr/>
            <p:nvPr/>
          </p:nvSpPr>
          <p:spPr>
            <a:xfrm>
              <a:off x="2670275" y="3167775"/>
              <a:ext cx="20325" cy="69550"/>
            </a:xfrm>
            <a:custGeom>
              <a:avLst/>
              <a:gdLst/>
              <a:ahLst/>
              <a:cxnLst/>
              <a:rect l="l" t="t" r="r" b="b"/>
              <a:pathLst>
                <a:path w="813" h="2782" extrusionOk="0">
                  <a:moveTo>
                    <a:pt x="264" y="1"/>
                  </a:moveTo>
                  <a:lnTo>
                    <a:pt x="1" y="143"/>
                  </a:lnTo>
                  <a:cubicBezTo>
                    <a:pt x="346" y="590"/>
                    <a:pt x="569" y="1158"/>
                    <a:pt x="569" y="1767"/>
                  </a:cubicBezTo>
                  <a:cubicBezTo>
                    <a:pt x="569" y="2132"/>
                    <a:pt x="488" y="2477"/>
                    <a:pt x="366" y="2782"/>
                  </a:cubicBezTo>
                  <a:cubicBezTo>
                    <a:pt x="650" y="2416"/>
                    <a:pt x="812" y="1950"/>
                    <a:pt x="812" y="1442"/>
                  </a:cubicBezTo>
                  <a:cubicBezTo>
                    <a:pt x="812" y="894"/>
                    <a:pt x="609" y="387"/>
                    <a:pt x="2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8"/>
            <p:cNvSpPr/>
            <p:nvPr/>
          </p:nvSpPr>
          <p:spPr>
            <a:xfrm>
              <a:off x="2502325" y="2156675"/>
              <a:ext cx="313100" cy="52575"/>
            </a:xfrm>
            <a:custGeom>
              <a:avLst/>
              <a:gdLst/>
              <a:ahLst/>
              <a:cxnLst/>
              <a:rect l="l" t="t" r="r" b="b"/>
              <a:pathLst>
                <a:path w="12524" h="2103" extrusionOk="0">
                  <a:moveTo>
                    <a:pt x="11066" y="1"/>
                  </a:moveTo>
                  <a:cubicBezTo>
                    <a:pt x="10958" y="1"/>
                    <a:pt x="10848" y="11"/>
                    <a:pt x="10737" y="32"/>
                  </a:cubicBezTo>
                  <a:lnTo>
                    <a:pt x="0" y="2103"/>
                  </a:lnTo>
                  <a:lnTo>
                    <a:pt x="0" y="2103"/>
                  </a:lnTo>
                  <a:lnTo>
                    <a:pt x="12524" y="824"/>
                  </a:lnTo>
                  <a:cubicBezTo>
                    <a:pt x="12214" y="325"/>
                    <a:pt x="11670" y="1"/>
                    <a:pt x="1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8"/>
            <p:cNvSpPr/>
            <p:nvPr/>
          </p:nvSpPr>
          <p:spPr>
            <a:xfrm>
              <a:off x="2062350" y="2248825"/>
              <a:ext cx="375025" cy="224300"/>
            </a:xfrm>
            <a:custGeom>
              <a:avLst/>
              <a:gdLst/>
              <a:ahLst/>
              <a:cxnLst/>
              <a:rect l="l" t="t" r="r" b="b"/>
              <a:pathLst>
                <a:path w="15001" h="8972" extrusionOk="0">
                  <a:moveTo>
                    <a:pt x="12971" y="0"/>
                  </a:moveTo>
                  <a:lnTo>
                    <a:pt x="630" y="6658"/>
                  </a:lnTo>
                  <a:lnTo>
                    <a:pt x="1" y="8972"/>
                  </a:lnTo>
                  <a:lnTo>
                    <a:pt x="996" y="7165"/>
                  </a:lnTo>
                  <a:lnTo>
                    <a:pt x="12586" y="1116"/>
                  </a:lnTo>
                  <a:lnTo>
                    <a:pt x="15001" y="568"/>
                  </a:lnTo>
                  <a:lnTo>
                    <a:pt x="129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8"/>
            <p:cNvSpPr/>
            <p:nvPr/>
          </p:nvSpPr>
          <p:spPr>
            <a:xfrm>
              <a:off x="1674675" y="2483750"/>
              <a:ext cx="369450" cy="375550"/>
            </a:xfrm>
            <a:custGeom>
              <a:avLst/>
              <a:gdLst/>
              <a:ahLst/>
              <a:cxnLst/>
              <a:rect l="l" t="t" r="r" b="b"/>
              <a:pathLst>
                <a:path w="14778" h="15022" extrusionOk="0">
                  <a:moveTo>
                    <a:pt x="14777" y="1"/>
                  </a:moveTo>
                  <a:lnTo>
                    <a:pt x="12220" y="224"/>
                  </a:lnTo>
                  <a:lnTo>
                    <a:pt x="1" y="10454"/>
                  </a:lnTo>
                  <a:lnTo>
                    <a:pt x="731" y="15021"/>
                  </a:lnTo>
                  <a:lnTo>
                    <a:pt x="1198" y="10901"/>
                  </a:lnTo>
                  <a:lnTo>
                    <a:pt x="12382" y="1198"/>
                  </a:lnTo>
                  <a:lnTo>
                    <a:pt x="147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8"/>
            <p:cNvSpPr/>
            <p:nvPr/>
          </p:nvSpPr>
          <p:spPr>
            <a:xfrm>
              <a:off x="1355500" y="2851750"/>
              <a:ext cx="313125" cy="264300"/>
            </a:xfrm>
            <a:custGeom>
              <a:avLst/>
              <a:gdLst/>
              <a:ahLst/>
              <a:cxnLst/>
              <a:rect l="l" t="t" r="r" b="b"/>
              <a:pathLst>
                <a:path w="12525" h="10572" extrusionOk="0">
                  <a:moveTo>
                    <a:pt x="8238" y="0"/>
                  </a:moveTo>
                  <a:cubicBezTo>
                    <a:pt x="8024" y="0"/>
                    <a:pt x="7832" y="24"/>
                    <a:pt x="7673" y="78"/>
                  </a:cubicBezTo>
                  <a:cubicBezTo>
                    <a:pt x="6130" y="606"/>
                    <a:pt x="4385" y="1275"/>
                    <a:pt x="3979" y="1742"/>
                  </a:cubicBezTo>
                  <a:cubicBezTo>
                    <a:pt x="3207" y="2574"/>
                    <a:pt x="3045" y="4949"/>
                    <a:pt x="1726" y="6634"/>
                  </a:cubicBezTo>
                  <a:cubicBezTo>
                    <a:pt x="1482" y="6959"/>
                    <a:pt x="853" y="7730"/>
                    <a:pt x="0" y="8785"/>
                  </a:cubicBezTo>
                  <a:lnTo>
                    <a:pt x="528" y="10572"/>
                  </a:lnTo>
                  <a:lnTo>
                    <a:pt x="1401" y="8664"/>
                  </a:lnTo>
                  <a:cubicBezTo>
                    <a:pt x="1401" y="8664"/>
                    <a:pt x="4080" y="6269"/>
                    <a:pt x="4364" y="4726"/>
                  </a:cubicBezTo>
                  <a:cubicBezTo>
                    <a:pt x="4649" y="3183"/>
                    <a:pt x="5095" y="2716"/>
                    <a:pt x="6902" y="1539"/>
                  </a:cubicBezTo>
                  <a:cubicBezTo>
                    <a:pt x="7619" y="1072"/>
                    <a:pt x="8654" y="931"/>
                    <a:pt x="9641" y="931"/>
                  </a:cubicBezTo>
                  <a:cubicBezTo>
                    <a:pt x="11138" y="931"/>
                    <a:pt x="12524" y="1255"/>
                    <a:pt x="12524" y="1255"/>
                  </a:cubicBezTo>
                  <a:cubicBezTo>
                    <a:pt x="12524" y="1255"/>
                    <a:pt x="9794" y="0"/>
                    <a:pt x="8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8"/>
            <p:cNvSpPr/>
            <p:nvPr/>
          </p:nvSpPr>
          <p:spPr>
            <a:xfrm>
              <a:off x="1121050" y="3061225"/>
              <a:ext cx="247675" cy="295850"/>
            </a:xfrm>
            <a:custGeom>
              <a:avLst/>
              <a:gdLst/>
              <a:ahLst/>
              <a:cxnLst/>
              <a:rect l="l" t="t" r="r" b="b"/>
              <a:pathLst>
                <a:path w="9907" h="11834" extrusionOk="0">
                  <a:moveTo>
                    <a:pt x="9703" y="0"/>
                  </a:moveTo>
                  <a:cubicBezTo>
                    <a:pt x="9520" y="203"/>
                    <a:pt x="9338" y="447"/>
                    <a:pt x="9135" y="691"/>
                  </a:cubicBezTo>
                  <a:cubicBezTo>
                    <a:pt x="9196" y="1117"/>
                    <a:pt x="9236" y="1563"/>
                    <a:pt x="9236" y="2010"/>
                  </a:cubicBezTo>
                  <a:cubicBezTo>
                    <a:pt x="9236" y="6902"/>
                    <a:pt x="5380" y="10900"/>
                    <a:pt x="569" y="11144"/>
                  </a:cubicBezTo>
                  <a:cubicBezTo>
                    <a:pt x="366" y="11387"/>
                    <a:pt x="184" y="11611"/>
                    <a:pt x="1" y="11834"/>
                  </a:cubicBezTo>
                  <a:lnTo>
                    <a:pt x="82" y="11834"/>
                  </a:lnTo>
                  <a:cubicBezTo>
                    <a:pt x="5502" y="11834"/>
                    <a:pt x="9906" y="7429"/>
                    <a:pt x="9906" y="2010"/>
                  </a:cubicBezTo>
                  <a:cubicBezTo>
                    <a:pt x="9906" y="1320"/>
                    <a:pt x="9845" y="650"/>
                    <a:pt x="97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8"/>
            <p:cNvSpPr/>
            <p:nvPr/>
          </p:nvSpPr>
          <p:spPr>
            <a:xfrm>
              <a:off x="1299675" y="3850300"/>
              <a:ext cx="98975" cy="436925"/>
            </a:xfrm>
            <a:custGeom>
              <a:avLst/>
              <a:gdLst/>
              <a:ahLst/>
              <a:cxnLst/>
              <a:rect l="l" t="t" r="r" b="b"/>
              <a:pathLst>
                <a:path w="3959" h="17477" extrusionOk="0">
                  <a:moveTo>
                    <a:pt x="2984" y="0"/>
                  </a:moveTo>
                  <a:lnTo>
                    <a:pt x="1" y="17476"/>
                  </a:lnTo>
                  <a:lnTo>
                    <a:pt x="3959" y="792"/>
                  </a:lnTo>
                  <a:lnTo>
                    <a:pt x="29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8"/>
            <p:cNvSpPr/>
            <p:nvPr/>
          </p:nvSpPr>
          <p:spPr>
            <a:xfrm>
              <a:off x="1387975" y="3826450"/>
              <a:ext cx="59400" cy="35550"/>
            </a:xfrm>
            <a:custGeom>
              <a:avLst/>
              <a:gdLst/>
              <a:ahLst/>
              <a:cxnLst/>
              <a:rect l="l" t="t" r="r" b="b"/>
              <a:pathLst>
                <a:path w="2376" h="1422" extrusionOk="0">
                  <a:moveTo>
                    <a:pt x="975" y="0"/>
                  </a:moveTo>
                  <a:lnTo>
                    <a:pt x="0" y="609"/>
                  </a:lnTo>
                  <a:lnTo>
                    <a:pt x="975" y="1421"/>
                  </a:lnTo>
                  <a:lnTo>
                    <a:pt x="2375" y="954"/>
                  </a:lnTo>
                  <a:lnTo>
                    <a:pt x="9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8"/>
            <p:cNvSpPr/>
            <p:nvPr/>
          </p:nvSpPr>
          <p:spPr>
            <a:xfrm>
              <a:off x="1506200" y="2736975"/>
              <a:ext cx="131450" cy="102025"/>
            </a:xfrm>
            <a:custGeom>
              <a:avLst/>
              <a:gdLst/>
              <a:ahLst/>
              <a:cxnLst/>
              <a:rect l="l" t="t" r="r" b="b"/>
              <a:pathLst>
                <a:path w="5258" h="4081" extrusionOk="0">
                  <a:moveTo>
                    <a:pt x="4974" y="0"/>
                  </a:moveTo>
                  <a:cubicBezTo>
                    <a:pt x="2497" y="0"/>
                    <a:pt x="468" y="1746"/>
                    <a:pt x="1" y="4080"/>
                  </a:cubicBezTo>
                  <a:cubicBezTo>
                    <a:pt x="853" y="2192"/>
                    <a:pt x="2761" y="873"/>
                    <a:pt x="4974" y="873"/>
                  </a:cubicBezTo>
                  <a:lnTo>
                    <a:pt x="5055" y="873"/>
                  </a:lnTo>
                  <a:lnTo>
                    <a:pt x="5258" y="21"/>
                  </a:lnTo>
                  <a:cubicBezTo>
                    <a:pt x="5156" y="0"/>
                    <a:pt x="5075" y="0"/>
                    <a:pt x="49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8"/>
            <p:cNvSpPr/>
            <p:nvPr/>
          </p:nvSpPr>
          <p:spPr>
            <a:xfrm>
              <a:off x="1038350" y="3368725"/>
              <a:ext cx="97950" cy="188300"/>
            </a:xfrm>
            <a:custGeom>
              <a:avLst/>
              <a:gdLst/>
              <a:ahLst/>
              <a:cxnLst/>
              <a:rect l="l" t="t" r="r" b="b"/>
              <a:pathLst>
                <a:path w="3918" h="7532" extrusionOk="0">
                  <a:moveTo>
                    <a:pt x="2923" y="1"/>
                  </a:moveTo>
                  <a:lnTo>
                    <a:pt x="0" y="3553"/>
                  </a:lnTo>
                  <a:lnTo>
                    <a:pt x="427" y="7531"/>
                  </a:lnTo>
                  <a:lnTo>
                    <a:pt x="873" y="3979"/>
                  </a:lnTo>
                  <a:lnTo>
                    <a:pt x="39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8"/>
            <p:cNvSpPr/>
            <p:nvPr/>
          </p:nvSpPr>
          <p:spPr>
            <a:xfrm>
              <a:off x="411650" y="3545825"/>
              <a:ext cx="626725" cy="879425"/>
            </a:xfrm>
            <a:custGeom>
              <a:avLst/>
              <a:gdLst/>
              <a:ahLst/>
              <a:cxnLst/>
              <a:rect l="l" t="t" r="r" b="b"/>
              <a:pathLst>
                <a:path w="25069" h="35177" extrusionOk="0">
                  <a:moveTo>
                    <a:pt x="23242" y="1"/>
                  </a:moveTo>
                  <a:lnTo>
                    <a:pt x="1" y="35176"/>
                  </a:lnTo>
                  <a:lnTo>
                    <a:pt x="25068" y="1462"/>
                  </a:lnTo>
                  <a:lnTo>
                    <a:pt x="232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8"/>
            <p:cNvSpPr/>
            <p:nvPr/>
          </p:nvSpPr>
          <p:spPr>
            <a:xfrm>
              <a:off x="2167900" y="2926925"/>
              <a:ext cx="320225" cy="141425"/>
            </a:xfrm>
            <a:custGeom>
              <a:avLst/>
              <a:gdLst/>
              <a:ahLst/>
              <a:cxnLst/>
              <a:rect l="l" t="t" r="r" b="b"/>
              <a:pathLst>
                <a:path w="12809" h="5657" extrusionOk="0">
                  <a:moveTo>
                    <a:pt x="10957" y="1"/>
                  </a:moveTo>
                  <a:cubicBezTo>
                    <a:pt x="7302" y="1"/>
                    <a:pt x="1" y="4175"/>
                    <a:pt x="1" y="4175"/>
                  </a:cubicBezTo>
                  <a:lnTo>
                    <a:pt x="1" y="5657"/>
                  </a:lnTo>
                  <a:cubicBezTo>
                    <a:pt x="1" y="5657"/>
                    <a:pt x="407" y="4621"/>
                    <a:pt x="549" y="4439"/>
                  </a:cubicBezTo>
                  <a:cubicBezTo>
                    <a:pt x="691" y="4256"/>
                    <a:pt x="4629" y="2754"/>
                    <a:pt x="7673" y="1414"/>
                  </a:cubicBezTo>
                  <a:cubicBezTo>
                    <a:pt x="9231" y="719"/>
                    <a:pt x="10538" y="549"/>
                    <a:pt x="11444" y="549"/>
                  </a:cubicBezTo>
                  <a:cubicBezTo>
                    <a:pt x="12310" y="549"/>
                    <a:pt x="12809" y="704"/>
                    <a:pt x="12809" y="704"/>
                  </a:cubicBezTo>
                  <a:cubicBezTo>
                    <a:pt x="12667" y="562"/>
                    <a:pt x="12525" y="460"/>
                    <a:pt x="12362" y="339"/>
                  </a:cubicBezTo>
                  <a:cubicBezTo>
                    <a:pt x="12011" y="103"/>
                    <a:pt x="11528" y="1"/>
                    <a:pt x="109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8"/>
            <p:cNvSpPr/>
            <p:nvPr/>
          </p:nvSpPr>
          <p:spPr>
            <a:xfrm>
              <a:off x="1630525" y="3068325"/>
              <a:ext cx="516600" cy="251725"/>
            </a:xfrm>
            <a:custGeom>
              <a:avLst/>
              <a:gdLst/>
              <a:ahLst/>
              <a:cxnLst/>
              <a:rect l="l" t="t" r="r" b="b"/>
              <a:pathLst>
                <a:path w="20664" h="10069" extrusionOk="0">
                  <a:moveTo>
                    <a:pt x="19202" y="1"/>
                  </a:moveTo>
                  <a:lnTo>
                    <a:pt x="1" y="10068"/>
                  </a:lnTo>
                  <a:cubicBezTo>
                    <a:pt x="6" y="10068"/>
                    <a:pt x="11" y="10069"/>
                    <a:pt x="17" y="10069"/>
                  </a:cubicBezTo>
                  <a:cubicBezTo>
                    <a:pt x="1774" y="10069"/>
                    <a:pt x="19080" y="447"/>
                    <a:pt x="19080" y="447"/>
                  </a:cubicBezTo>
                  <a:lnTo>
                    <a:pt x="20664" y="447"/>
                  </a:lnTo>
                  <a:lnTo>
                    <a:pt x="204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8"/>
            <p:cNvSpPr/>
            <p:nvPr/>
          </p:nvSpPr>
          <p:spPr>
            <a:xfrm>
              <a:off x="2209000" y="2407125"/>
              <a:ext cx="280150" cy="199975"/>
            </a:xfrm>
            <a:custGeom>
              <a:avLst/>
              <a:gdLst/>
              <a:ahLst/>
              <a:cxnLst/>
              <a:rect l="l" t="t" r="r" b="b"/>
              <a:pathLst>
                <a:path w="11206" h="7999" extrusionOk="0">
                  <a:moveTo>
                    <a:pt x="11205" y="1"/>
                  </a:moveTo>
                  <a:lnTo>
                    <a:pt x="11205" y="1"/>
                  </a:lnTo>
                  <a:cubicBezTo>
                    <a:pt x="11144" y="21"/>
                    <a:pt x="11104" y="21"/>
                    <a:pt x="11104" y="21"/>
                  </a:cubicBezTo>
                  <a:lnTo>
                    <a:pt x="1" y="7917"/>
                  </a:lnTo>
                  <a:lnTo>
                    <a:pt x="508" y="7998"/>
                  </a:lnTo>
                  <a:lnTo>
                    <a:pt x="11104" y="833"/>
                  </a:lnTo>
                  <a:lnTo>
                    <a:pt x="112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8"/>
            <p:cNvSpPr/>
            <p:nvPr/>
          </p:nvSpPr>
          <p:spPr>
            <a:xfrm>
              <a:off x="1848225" y="2649700"/>
              <a:ext cx="293325" cy="340500"/>
            </a:xfrm>
            <a:custGeom>
              <a:avLst/>
              <a:gdLst/>
              <a:ahLst/>
              <a:cxnLst/>
              <a:rect l="l" t="t" r="r" b="b"/>
              <a:pathLst>
                <a:path w="11733" h="13620" extrusionOk="0">
                  <a:moveTo>
                    <a:pt x="11712" y="0"/>
                  </a:moveTo>
                  <a:lnTo>
                    <a:pt x="0" y="13620"/>
                  </a:lnTo>
                  <a:lnTo>
                    <a:pt x="569" y="13620"/>
                  </a:lnTo>
                  <a:lnTo>
                    <a:pt x="11732" y="1096"/>
                  </a:lnTo>
                  <a:lnTo>
                    <a:pt x="117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8"/>
            <p:cNvSpPr/>
            <p:nvPr/>
          </p:nvSpPr>
          <p:spPr>
            <a:xfrm>
              <a:off x="2544425" y="2289925"/>
              <a:ext cx="241575" cy="107075"/>
            </a:xfrm>
            <a:custGeom>
              <a:avLst/>
              <a:gdLst/>
              <a:ahLst/>
              <a:cxnLst/>
              <a:rect l="l" t="t" r="r" b="b"/>
              <a:pathLst>
                <a:path w="9663" h="4283" extrusionOk="0">
                  <a:moveTo>
                    <a:pt x="9662" y="0"/>
                  </a:moveTo>
                  <a:lnTo>
                    <a:pt x="9662" y="0"/>
                  </a:lnTo>
                  <a:cubicBezTo>
                    <a:pt x="9622" y="20"/>
                    <a:pt x="8445" y="792"/>
                    <a:pt x="6354" y="1746"/>
                  </a:cubicBezTo>
                  <a:cubicBezTo>
                    <a:pt x="5055" y="2355"/>
                    <a:pt x="2091" y="3329"/>
                    <a:pt x="1" y="3999"/>
                  </a:cubicBezTo>
                  <a:lnTo>
                    <a:pt x="346" y="4283"/>
                  </a:lnTo>
                  <a:lnTo>
                    <a:pt x="6476" y="2233"/>
                  </a:lnTo>
                  <a:cubicBezTo>
                    <a:pt x="7754" y="1807"/>
                    <a:pt x="8850" y="1015"/>
                    <a:pt x="96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8"/>
            <p:cNvSpPr/>
            <p:nvPr/>
          </p:nvSpPr>
          <p:spPr>
            <a:xfrm>
              <a:off x="1984225" y="2412200"/>
              <a:ext cx="83750" cy="57875"/>
            </a:xfrm>
            <a:custGeom>
              <a:avLst/>
              <a:gdLst/>
              <a:ahLst/>
              <a:cxnLst/>
              <a:rect l="l" t="t" r="r" b="b"/>
              <a:pathLst>
                <a:path w="3350" h="2315" extrusionOk="0">
                  <a:moveTo>
                    <a:pt x="2476" y="1"/>
                  </a:moveTo>
                  <a:cubicBezTo>
                    <a:pt x="1157" y="1"/>
                    <a:pt x="81" y="1016"/>
                    <a:pt x="0" y="2315"/>
                  </a:cubicBezTo>
                  <a:cubicBezTo>
                    <a:pt x="284" y="1259"/>
                    <a:pt x="1259" y="488"/>
                    <a:pt x="2395" y="488"/>
                  </a:cubicBezTo>
                  <a:cubicBezTo>
                    <a:pt x="2659" y="488"/>
                    <a:pt x="2923" y="549"/>
                    <a:pt x="3167" y="630"/>
                  </a:cubicBezTo>
                  <a:lnTo>
                    <a:pt x="3349" y="163"/>
                  </a:lnTo>
                  <a:cubicBezTo>
                    <a:pt x="3065" y="62"/>
                    <a:pt x="2781" y="1"/>
                    <a:pt x="2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8"/>
            <p:cNvSpPr/>
            <p:nvPr/>
          </p:nvSpPr>
          <p:spPr>
            <a:xfrm>
              <a:off x="2407425" y="2199600"/>
              <a:ext cx="83750" cy="24875"/>
            </a:xfrm>
            <a:custGeom>
              <a:avLst/>
              <a:gdLst/>
              <a:ahLst/>
              <a:cxnLst/>
              <a:rect l="l" t="t" r="r" b="b"/>
              <a:pathLst>
                <a:path w="3350" h="995" extrusionOk="0">
                  <a:moveTo>
                    <a:pt x="1990" y="0"/>
                  </a:moveTo>
                  <a:cubicBezTo>
                    <a:pt x="1178" y="0"/>
                    <a:pt x="467" y="386"/>
                    <a:pt x="0" y="995"/>
                  </a:cubicBezTo>
                  <a:cubicBezTo>
                    <a:pt x="427" y="670"/>
                    <a:pt x="954" y="487"/>
                    <a:pt x="1543" y="487"/>
                  </a:cubicBezTo>
                  <a:cubicBezTo>
                    <a:pt x="2010" y="487"/>
                    <a:pt x="2456" y="609"/>
                    <a:pt x="2842" y="832"/>
                  </a:cubicBezTo>
                  <a:cubicBezTo>
                    <a:pt x="2984" y="711"/>
                    <a:pt x="3167" y="569"/>
                    <a:pt x="3349" y="406"/>
                  </a:cubicBezTo>
                  <a:cubicBezTo>
                    <a:pt x="2964" y="163"/>
                    <a:pt x="2497" y="0"/>
                    <a:pt x="1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8"/>
            <p:cNvSpPr/>
            <p:nvPr/>
          </p:nvSpPr>
          <p:spPr>
            <a:xfrm>
              <a:off x="2270925" y="3027725"/>
              <a:ext cx="237500" cy="223300"/>
            </a:xfrm>
            <a:custGeom>
              <a:avLst/>
              <a:gdLst/>
              <a:ahLst/>
              <a:cxnLst/>
              <a:rect l="l" t="t" r="r" b="b"/>
              <a:pathLst>
                <a:path w="9500" h="8932" extrusionOk="0">
                  <a:moveTo>
                    <a:pt x="9500" y="1"/>
                  </a:moveTo>
                  <a:cubicBezTo>
                    <a:pt x="9500" y="1"/>
                    <a:pt x="7957" y="2558"/>
                    <a:pt x="6090" y="4081"/>
                  </a:cubicBezTo>
                  <a:cubicBezTo>
                    <a:pt x="4243" y="5603"/>
                    <a:pt x="0" y="8627"/>
                    <a:pt x="0" y="8627"/>
                  </a:cubicBezTo>
                  <a:lnTo>
                    <a:pt x="508" y="8932"/>
                  </a:lnTo>
                  <a:cubicBezTo>
                    <a:pt x="508" y="8932"/>
                    <a:pt x="6211" y="4771"/>
                    <a:pt x="7795" y="3066"/>
                  </a:cubicBezTo>
                  <a:cubicBezTo>
                    <a:pt x="8505" y="2294"/>
                    <a:pt x="9215" y="1178"/>
                    <a:pt x="9500" y="21"/>
                  </a:cubicBezTo>
                  <a:cubicBezTo>
                    <a:pt x="9500" y="21"/>
                    <a:pt x="9500" y="1"/>
                    <a:pt x="95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8"/>
            <p:cNvSpPr/>
            <p:nvPr/>
          </p:nvSpPr>
          <p:spPr>
            <a:xfrm>
              <a:off x="2352100" y="3157650"/>
              <a:ext cx="206925" cy="158850"/>
            </a:xfrm>
            <a:custGeom>
              <a:avLst/>
              <a:gdLst/>
              <a:ahLst/>
              <a:cxnLst/>
              <a:rect l="l" t="t" r="r" b="b"/>
              <a:pathLst>
                <a:path w="8277" h="6354" extrusionOk="0">
                  <a:moveTo>
                    <a:pt x="8140" y="0"/>
                  </a:moveTo>
                  <a:cubicBezTo>
                    <a:pt x="8140" y="0"/>
                    <a:pt x="1056" y="5014"/>
                    <a:pt x="1" y="6353"/>
                  </a:cubicBezTo>
                  <a:cubicBezTo>
                    <a:pt x="2763" y="4292"/>
                    <a:pt x="7774" y="810"/>
                    <a:pt x="8128" y="810"/>
                  </a:cubicBezTo>
                  <a:cubicBezTo>
                    <a:pt x="8133" y="810"/>
                    <a:pt x="8137" y="811"/>
                    <a:pt x="8140" y="812"/>
                  </a:cubicBezTo>
                  <a:cubicBezTo>
                    <a:pt x="8147" y="814"/>
                    <a:pt x="8153" y="815"/>
                    <a:pt x="8159" y="815"/>
                  </a:cubicBezTo>
                  <a:cubicBezTo>
                    <a:pt x="8277" y="815"/>
                    <a:pt x="8218" y="426"/>
                    <a:pt x="81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" name="Google Shape;382;p38"/>
          <p:cNvGrpSpPr/>
          <p:nvPr/>
        </p:nvGrpSpPr>
        <p:grpSpPr>
          <a:xfrm>
            <a:off x="6779025" y="349504"/>
            <a:ext cx="913425" cy="370975"/>
            <a:chOff x="6514150" y="4420266"/>
            <a:chExt cx="913425" cy="370975"/>
          </a:xfrm>
        </p:grpSpPr>
        <p:sp>
          <p:nvSpPr>
            <p:cNvPr id="383" name="Google Shape;383;p38"/>
            <p:cNvSpPr/>
            <p:nvPr/>
          </p:nvSpPr>
          <p:spPr>
            <a:xfrm>
              <a:off x="6938875" y="4420266"/>
              <a:ext cx="488700" cy="370975"/>
            </a:xfrm>
            <a:custGeom>
              <a:avLst/>
              <a:gdLst/>
              <a:ahLst/>
              <a:cxnLst/>
              <a:rect l="l" t="t" r="r" b="b"/>
              <a:pathLst>
                <a:path w="19548" h="14839" extrusionOk="0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8"/>
            <p:cNvSpPr/>
            <p:nvPr/>
          </p:nvSpPr>
          <p:spPr>
            <a:xfrm>
              <a:off x="6514150" y="4420266"/>
              <a:ext cx="488700" cy="370975"/>
            </a:xfrm>
            <a:custGeom>
              <a:avLst/>
              <a:gdLst/>
              <a:ahLst/>
              <a:cxnLst/>
              <a:rect l="l" t="t" r="r" b="b"/>
              <a:pathLst>
                <a:path w="19548" h="14839" extrusionOk="0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5" name="Google Shape;385;p38"/>
          <p:cNvSpPr/>
          <p:nvPr/>
        </p:nvSpPr>
        <p:spPr>
          <a:xfrm>
            <a:off x="2086350" y="823325"/>
            <a:ext cx="1270200" cy="1270200"/>
          </a:xfrm>
          <a:prstGeom prst="ellipse">
            <a:avLst/>
          </a:prstGeom>
          <a:solidFill>
            <a:schemeClr val="accent1">
              <a:alpha val="359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6" name="Google Shape;386;p38"/>
          <p:cNvGrpSpPr/>
          <p:nvPr/>
        </p:nvGrpSpPr>
        <p:grpSpPr>
          <a:xfrm>
            <a:off x="3091863" y="1052012"/>
            <a:ext cx="537556" cy="136576"/>
            <a:chOff x="2641350" y="846250"/>
            <a:chExt cx="413600" cy="105075"/>
          </a:xfrm>
        </p:grpSpPr>
        <p:sp>
          <p:nvSpPr>
            <p:cNvPr id="387" name="Google Shape;387;p38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8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8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8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91" name="Google Shape;391;p38"/>
          <p:cNvCxnSpPr/>
          <p:nvPr/>
        </p:nvCxnSpPr>
        <p:spPr>
          <a:xfrm rot="10800000" flipH="1">
            <a:off x="3459250" y="3707110"/>
            <a:ext cx="4990500" cy="11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0"/>
          <p:cNvSpPr/>
          <p:nvPr/>
        </p:nvSpPr>
        <p:spPr>
          <a:xfrm>
            <a:off x="3336004" y="2922741"/>
            <a:ext cx="2495100" cy="179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40"/>
          <p:cNvSpPr/>
          <p:nvPr/>
        </p:nvSpPr>
        <p:spPr>
          <a:xfrm>
            <a:off x="3336167" y="1059641"/>
            <a:ext cx="2495100" cy="179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40"/>
          <p:cNvSpPr txBox="1">
            <a:spLocks noGrp="1"/>
          </p:cNvSpPr>
          <p:nvPr>
            <p:ph type="title"/>
          </p:nvPr>
        </p:nvSpPr>
        <p:spPr>
          <a:xfrm>
            <a:off x="650727" y="21462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 проекте</a:t>
            </a:r>
            <a:endParaRPr dirty="0"/>
          </a:p>
        </p:txBody>
      </p:sp>
      <p:sp>
        <p:nvSpPr>
          <p:cNvPr id="433" name="Google Shape;433;p40"/>
          <p:cNvSpPr/>
          <p:nvPr/>
        </p:nvSpPr>
        <p:spPr>
          <a:xfrm>
            <a:off x="8262473" y="1570679"/>
            <a:ext cx="549900" cy="549900"/>
          </a:xfrm>
          <a:prstGeom prst="ellipse">
            <a:avLst/>
          </a:prstGeom>
          <a:solidFill>
            <a:schemeClr val="accent1">
              <a:alpha val="359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40"/>
          <p:cNvSpPr/>
          <p:nvPr/>
        </p:nvSpPr>
        <p:spPr>
          <a:xfrm>
            <a:off x="8190787" y="4193213"/>
            <a:ext cx="796500" cy="796500"/>
          </a:xfrm>
          <a:prstGeom prst="ellipse">
            <a:avLst/>
          </a:prstGeom>
          <a:solidFill>
            <a:schemeClr val="accent1">
              <a:alpha val="359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5" name="Google Shape;435;p40"/>
          <p:cNvGrpSpPr/>
          <p:nvPr/>
        </p:nvGrpSpPr>
        <p:grpSpPr>
          <a:xfrm rot="10800000">
            <a:off x="1186863" y="823412"/>
            <a:ext cx="537556" cy="136576"/>
            <a:chOff x="2641350" y="846250"/>
            <a:chExt cx="413600" cy="105075"/>
          </a:xfrm>
        </p:grpSpPr>
        <p:sp>
          <p:nvSpPr>
            <p:cNvPr id="436" name="Google Shape;436;p40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98AFC1-31DF-D1F0-8FDA-DD6427DB1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055" y="1282423"/>
            <a:ext cx="7306800" cy="3595500"/>
          </a:xfrm>
        </p:spPr>
        <p:txBody>
          <a:bodyPr/>
          <a:lstStyle/>
          <a:p>
            <a:pPr marL="139700" indent="0">
              <a:buNone/>
            </a:pPr>
            <a:r>
              <a:rPr lang="ru-RU" sz="2000" dirty="0"/>
              <a:t>Проект посвящён автоматическому определению </a:t>
            </a:r>
            <a:r>
              <a:rPr lang="ru-RU" sz="2000" b="1" dirty="0"/>
              <a:t>лейкемии по фотографиям клеток крови</a:t>
            </a:r>
            <a:r>
              <a:rPr lang="ru-RU" sz="2000" dirty="0"/>
              <a:t> с использованием классических методов машинного обучения.</a:t>
            </a:r>
            <a:br>
              <a:rPr lang="ru-RU" sz="2000" dirty="0"/>
            </a:br>
            <a:r>
              <a:rPr lang="ru-RU" sz="2000" dirty="0"/>
              <a:t>Цель — классифицировать клетки как </a:t>
            </a:r>
            <a:r>
              <a:rPr lang="ru-RU" sz="2000" b="1" dirty="0"/>
              <a:t>нормальные</a:t>
            </a:r>
            <a:r>
              <a:rPr lang="ru-RU" sz="2000" dirty="0"/>
              <a:t> или </a:t>
            </a:r>
            <a:r>
              <a:rPr lang="ru-RU" sz="2000" b="1" dirty="0"/>
              <a:t>поражённые лейкемией</a:t>
            </a:r>
            <a:r>
              <a:rPr lang="ru-RU" sz="2000" dirty="0"/>
              <a:t> на основе извлечённых признаков.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9"/>
          <p:cNvSpPr txBox="1">
            <a:spLocks noGrp="1"/>
          </p:cNvSpPr>
          <p:nvPr>
            <p:ph type="title"/>
          </p:nvPr>
        </p:nvSpPr>
        <p:spPr>
          <a:xfrm>
            <a:off x="769688" y="1630519"/>
            <a:ext cx="23364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Тренировочные данные</a:t>
            </a:r>
            <a:endParaRPr sz="1600" dirty="0"/>
          </a:p>
        </p:txBody>
      </p:sp>
      <p:sp>
        <p:nvSpPr>
          <p:cNvPr id="15" name="Подзаголовок 14">
            <a:extLst>
              <a:ext uri="{FF2B5EF4-FFF2-40B4-BE49-F238E27FC236}">
                <a16:creationId xmlns:a16="http://schemas.microsoft.com/office/drawing/2014/main" id="{F979BC1D-1562-97B2-2B4E-4C064FFA5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457" y="2154865"/>
            <a:ext cx="2515843" cy="1551735"/>
          </a:xfrm>
        </p:spPr>
        <p:txBody>
          <a:bodyPr/>
          <a:lstStyle/>
          <a:p>
            <a:pPr marL="0" indent="0" algn="l">
              <a:lnSpc>
                <a:spcPts val="2700"/>
              </a:lnSpc>
            </a:pP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Папки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fold_0, fold_1, fold_2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содержат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подкаталоги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клеток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лейкемией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(all) и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нормальных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клеток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(hem).</a:t>
            </a:r>
            <a:endParaRPr lang="en-US" dirty="0"/>
          </a:p>
        </p:txBody>
      </p: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D3E76D28-E450-8E9F-D87F-725C500DD2FD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3598800" y="1644889"/>
            <a:ext cx="2336400" cy="401700"/>
          </a:xfrm>
        </p:spPr>
        <p:txBody>
          <a:bodyPr/>
          <a:lstStyle/>
          <a:p>
            <a:r>
              <a:rPr lang="ru-RU" sz="1600" dirty="0" err="1"/>
              <a:t>Валидационные</a:t>
            </a:r>
            <a:r>
              <a:rPr lang="ru-RU" sz="1600" dirty="0"/>
              <a:t> данные</a:t>
            </a:r>
          </a:p>
        </p:txBody>
      </p:sp>
      <p:sp>
        <p:nvSpPr>
          <p:cNvPr id="17" name="Подзаголовок 16">
            <a:extLst>
              <a:ext uri="{FF2B5EF4-FFF2-40B4-BE49-F238E27FC236}">
                <a16:creationId xmlns:a16="http://schemas.microsoft.com/office/drawing/2014/main" id="{A9D660AF-9D10-663D-CC08-D79343EAC1C4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106088" y="2154865"/>
            <a:ext cx="2531400" cy="1778564"/>
          </a:xfrm>
        </p:spPr>
        <p:txBody>
          <a:bodyPr anchor="t"/>
          <a:lstStyle/>
          <a:p>
            <a:pPr algn="l"/>
            <a:r>
              <a:rPr lang="ru-RU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	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Папка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C-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NMC_test_prelim_phase_data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изображениями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CSV-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файлом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точной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оценки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моделей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dirty="0"/>
          </a:p>
          <a:p>
            <a:pPr algn="l"/>
            <a:endParaRPr lang="ru-RU" dirty="0"/>
          </a:p>
        </p:txBody>
      </p:sp>
      <p:sp>
        <p:nvSpPr>
          <p:cNvPr id="18" name="Заголовок 17">
            <a:extLst>
              <a:ext uri="{FF2B5EF4-FFF2-40B4-BE49-F238E27FC236}">
                <a16:creationId xmlns:a16="http://schemas.microsoft.com/office/drawing/2014/main" id="{C9375B9A-4598-72AD-C3AD-BFF05AD39BC8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6037912" y="1644889"/>
            <a:ext cx="2336400" cy="401700"/>
          </a:xfrm>
        </p:spPr>
        <p:txBody>
          <a:bodyPr/>
          <a:lstStyle/>
          <a:p>
            <a:r>
              <a:rPr lang="ru-RU" sz="1600" dirty="0"/>
              <a:t>Тестовые данные</a:t>
            </a:r>
          </a:p>
        </p:txBody>
      </p:sp>
      <p:sp>
        <p:nvSpPr>
          <p:cNvPr id="19" name="Подзаголовок 18">
            <a:extLst>
              <a:ext uri="{FF2B5EF4-FFF2-40B4-BE49-F238E27FC236}">
                <a16:creationId xmlns:a16="http://schemas.microsoft.com/office/drawing/2014/main" id="{A885723F-3C02-0FC2-5B85-829F380CD96F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5935200" y="2154865"/>
            <a:ext cx="2336400" cy="1842359"/>
          </a:xfrm>
        </p:spPr>
        <p:txBody>
          <a:bodyPr anchor="t"/>
          <a:lstStyle/>
          <a:p>
            <a:pPr algn="l"/>
            <a:r>
              <a:rPr lang="ru-RU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	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Папка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C-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NMC_test_final_phase_data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финальной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независимой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оценки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производительности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системы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dirty="0"/>
          </a:p>
          <a:p>
            <a:pPr algn="l"/>
            <a:endParaRPr lang="ru-RU" dirty="0"/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F427F31A-5CDA-4103-8E11-2CF7F55B5A8B}"/>
              </a:ext>
            </a:extLst>
          </p:cNvPr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r>
              <a:rPr lang="ru-RU" dirty="0"/>
              <a:t>Данные для обучения и валидации</a:t>
            </a:r>
          </a:p>
        </p:txBody>
      </p:sp>
      <p:grpSp>
        <p:nvGrpSpPr>
          <p:cNvPr id="399" name="Google Shape;399;p39"/>
          <p:cNvGrpSpPr/>
          <p:nvPr/>
        </p:nvGrpSpPr>
        <p:grpSpPr>
          <a:xfrm>
            <a:off x="8026698" y="4713214"/>
            <a:ext cx="781084" cy="198455"/>
            <a:chOff x="2641350" y="846250"/>
            <a:chExt cx="413600" cy="105075"/>
          </a:xfrm>
        </p:grpSpPr>
        <p:sp>
          <p:nvSpPr>
            <p:cNvPr id="400" name="Google Shape;400;p39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9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9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9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2"/>
          <p:cNvSpPr/>
          <p:nvPr/>
        </p:nvSpPr>
        <p:spPr>
          <a:xfrm>
            <a:off x="1441200" y="519600"/>
            <a:ext cx="6261600" cy="410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42"/>
          <p:cNvSpPr/>
          <p:nvPr/>
        </p:nvSpPr>
        <p:spPr>
          <a:xfrm>
            <a:off x="1791350" y="851550"/>
            <a:ext cx="55800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42"/>
          <p:cNvSpPr txBox="1">
            <a:spLocks noGrp="1"/>
          </p:cNvSpPr>
          <p:nvPr>
            <p:ph type="title"/>
          </p:nvPr>
        </p:nvSpPr>
        <p:spPr>
          <a:xfrm>
            <a:off x="2106050" y="2190967"/>
            <a:ext cx="4944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b="1" dirty="0"/>
              <a:t>Используемые модели</a:t>
            </a:r>
          </a:p>
        </p:txBody>
      </p:sp>
      <p:grpSp>
        <p:nvGrpSpPr>
          <p:cNvPr id="463" name="Google Shape;463;p42"/>
          <p:cNvGrpSpPr/>
          <p:nvPr/>
        </p:nvGrpSpPr>
        <p:grpSpPr>
          <a:xfrm>
            <a:off x="2710863" y="1234912"/>
            <a:ext cx="537556" cy="136576"/>
            <a:chOff x="2641350" y="846250"/>
            <a:chExt cx="413600" cy="105075"/>
          </a:xfrm>
        </p:grpSpPr>
        <p:sp>
          <p:nvSpPr>
            <p:cNvPr id="464" name="Google Shape;464;p42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42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2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2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8" name="Google Shape;468;p42"/>
          <p:cNvGrpSpPr/>
          <p:nvPr/>
        </p:nvGrpSpPr>
        <p:grpSpPr>
          <a:xfrm>
            <a:off x="2881200" y="4514854"/>
            <a:ext cx="3397850" cy="187275"/>
            <a:chOff x="-3237675" y="-1132050"/>
            <a:chExt cx="3397850" cy="187275"/>
          </a:xfrm>
        </p:grpSpPr>
        <p:sp>
          <p:nvSpPr>
            <p:cNvPr id="469" name="Google Shape;469;p42"/>
            <p:cNvSpPr/>
            <p:nvPr/>
          </p:nvSpPr>
          <p:spPr>
            <a:xfrm>
              <a:off x="-37875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2"/>
            <p:cNvSpPr/>
            <p:nvPr/>
          </p:nvSpPr>
          <p:spPr>
            <a:xfrm>
              <a:off x="29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42"/>
            <p:cNvSpPr/>
            <p:nvPr/>
          </p:nvSpPr>
          <p:spPr>
            <a:xfrm>
              <a:off x="-787250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42"/>
            <p:cNvSpPr/>
            <p:nvPr/>
          </p:nvSpPr>
          <p:spPr>
            <a:xfrm>
              <a:off x="-1195725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2"/>
            <p:cNvSpPr/>
            <p:nvPr/>
          </p:nvSpPr>
          <p:spPr>
            <a:xfrm>
              <a:off x="-16042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2"/>
            <p:cNvSpPr/>
            <p:nvPr/>
          </p:nvSpPr>
          <p:spPr>
            <a:xfrm>
              <a:off x="-2012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2"/>
            <p:cNvSpPr/>
            <p:nvPr/>
          </p:nvSpPr>
          <p:spPr>
            <a:xfrm>
              <a:off x="-242120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2"/>
            <p:cNvSpPr/>
            <p:nvPr/>
          </p:nvSpPr>
          <p:spPr>
            <a:xfrm>
              <a:off x="-28291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2"/>
            <p:cNvSpPr/>
            <p:nvPr/>
          </p:nvSpPr>
          <p:spPr>
            <a:xfrm>
              <a:off x="-32376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8" name="Google Shape;478;p42"/>
          <p:cNvCxnSpPr/>
          <p:nvPr/>
        </p:nvCxnSpPr>
        <p:spPr>
          <a:xfrm rot="10800000" flipH="1">
            <a:off x="2195400" y="3762159"/>
            <a:ext cx="6957300" cy="2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1"/>
          <p:cNvSpPr txBox="1">
            <a:spLocks noGrp="1"/>
          </p:cNvSpPr>
          <p:nvPr>
            <p:ph type="title"/>
          </p:nvPr>
        </p:nvSpPr>
        <p:spPr>
          <a:xfrm>
            <a:off x="-1849582" y="36316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b="1" dirty="0"/>
              <a:t>Logistic Regression</a:t>
            </a:r>
            <a:endParaRPr dirty="0"/>
          </a:p>
        </p:txBody>
      </p:sp>
      <p:sp>
        <p:nvSpPr>
          <p:cNvPr id="445" name="Google Shape;445;p41"/>
          <p:cNvSpPr/>
          <p:nvPr/>
        </p:nvSpPr>
        <p:spPr>
          <a:xfrm>
            <a:off x="202468" y="1156661"/>
            <a:ext cx="8583420" cy="3623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447" name="Google Shape;447;p41"/>
          <p:cNvCxnSpPr/>
          <p:nvPr/>
        </p:nvCxnSpPr>
        <p:spPr>
          <a:xfrm rot="10800000" flipH="1">
            <a:off x="3459250" y="3912850"/>
            <a:ext cx="4990500" cy="11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8" name="Google Shape;448;p41"/>
          <p:cNvGrpSpPr/>
          <p:nvPr/>
        </p:nvGrpSpPr>
        <p:grpSpPr>
          <a:xfrm>
            <a:off x="2284813" y="3850262"/>
            <a:ext cx="537556" cy="136576"/>
            <a:chOff x="2641350" y="846250"/>
            <a:chExt cx="413600" cy="105075"/>
          </a:xfrm>
        </p:grpSpPr>
        <p:sp>
          <p:nvSpPr>
            <p:cNvPr id="449" name="Google Shape;449;p41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1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41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41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0AED35-F9C8-510F-A945-24146F466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12" y="1408950"/>
            <a:ext cx="4625100" cy="1768500"/>
          </a:xfrm>
        </p:spPr>
        <p:txBody>
          <a:bodyPr/>
          <a:lstStyle/>
          <a:p>
            <a:r>
              <a:rPr lang="ru-RU" sz="2000" dirty="0"/>
              <a:t>Бинарная регрессия, обучалась на 8 признаках, извлечённых из изображений.</a:t>
            </a:r>
          </a:p>
          <a:p>
            <a:r>
              <a:rPr lang="ru-RU" sz="2000" dirty="0"/>
              <a:t>Хорошо подходит для интерпретации результатов.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>
          <a:extLst>
            <a:ext uri="{FF2B5EF4-FFF2-40B4-BE49-F238E27FC236}">
              <a16:creationId xmlns:a16="http://schemas.microsoft.com/office/drawing/2014/main" id="{B421418F-E4E5-D3AE-610F-7F5603637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1">
            <a:extLst>
              <a:ext uri="{FF2B5EF4-FFF2-40B4-BE49-F238E27FC236}">
                <a16:creationId xmlns:a16="http://schemas.microsoft.com/office/drawing/2014/main" id="{88FFB2EF-58D7-2269-11DB-3815AE9A1E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849582" y="36316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b="1" dirty="0" err="1"/>
              <a:t>XGBoost</a:t>
            </a:r>
            <a:endParaRPr dirty="0"/>
          </a:p>
        </p:txBody>
      </p:sp>
      <p:sp>
        <p:nvSpPr>
          <p:cNvPr id="445" name="Google Shape;445;p41">
            <a:extLst>
              <a:ext uri="{FF2B5EF4-FFF2-40B4-BE49-F238E27FC236}">
                <a16:creationId xmlns:a16="http://schemas.microsoft.com/office/drawing/2014/main" id="{84CB1BB6-CB6C-280C-B5AD-B3C849A7E894}"/>
              </a:ext>
            </a:extLst>
          </p:cNvPr>
          <p:cNvSpPr/>
          <p:nvPr/>
        </p:nvSpPr>
        <p:spPr>
          <a:xfrm>
            <a:off x="202468" y="1156662"/>
            <a:ext cx="8583420" cy="37328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447" name="Google Shape;447;p41">
            <a:extLst>
              <a:ext uri="{FF2B5EF4-FFF2-40B4-BE49-F238E27FC236}">
                <a16:creationId xmlns:a16="http://schemas.microsoft.com/office/drawing/2014/main" id="{A846A966-6F12-E30A-002B-D7DF8AF1787B}"/>
              </a:ext>
            </a:extLst>
          </p:cNvPr>
          <p:cNvCxnSpPr/>
          <p:nvPr/>
        </p:nvCxnSpPr>
        <p:spPr>
          <a:xfrm rot="10800000" flipH="1">
            <a:off x="3459250" y="3912850"/>
            <a:ext cx="4990500" cy="11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8" name="Google Shape;448;p41">
            <a:extLst>
              <a:ext uri="{FF2B5EF4-FFF2-40B4-BE49-F238E27FC236}">
                <a16:creationId xmlns:a16="http://schemas.microsoft.com/office/drawing/2014/main" id="{3966A6BA-CAB5-2931-D40B-AE83F7DD872E}"/>
              </a:ext>
            </a:extLst>
          </p:cNvPr>
          <p:cNvGrpSpPr/>
          <p:nvPr/>
        </p:nvGrpSpPr>
        <p:grpSpPr>
          <a:xfrm>
            <a:off x="2284813" y="3850262"/>
            <a:ext cx="537556" cy="136576"/>
            <a:chOff x="2641350" y="846250"/>
            <a:chExt cx="413600" cy="105075"/>
          </a:xfrm>
        </p:grpSpPr>
        <p:sp>
          <p:nvSpPr>
            <p:cNvPr id="449" name="Google Shape;449;p41">
              <a:extLst>
                <a:ext uri="{FF2B5EF4-FFF2-40B4-BE49-F238E27FC236}">
                  <a16:creationId xmlns:a16="http://schemas.microsoft.com/office/drawing/2014/main" id="{8F851B86-841C-1A78-E15B-B943CA89363D}"/>
                </a:ext>
              </a:extLst>
            </p:cNvPr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1">
              <a:extLst>
                <a:ext uri="{FF2B5EF4-FFF2-40B4-BE49-F238E27FC236}">
                  <a16:creationId xmlns:a16="http://schemas.microsoft.com/office/drawing/2014/main" id="{42B82AD7-8B17-2502-7AF0-176689EC3072}"/>
                </a:ext>
              </a:extLst>
            </p:cNvPr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41">
              <a:extLst>
                <a:ext uri="{FF2B5EF4-FFF2-40B4-BE49-F238E27FC236}">
                  <a16:creationId xmlns:a16="http://schemas.microsoft.com/office/drawing/2014/main" id="{5933FC00-EC0A-BC2E-1E5F-B733B7A587BD}"/>
                </a:ext>
              </a:extLst>
            </p:cNvPr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41">
              <a:extLst>
                <a:ext uri="{FF2B5EF4-FFF2-40B4-BE49-F238E27FC236}">
                  <a16:creationId xmlns:a16="http://schemas.microsoft.com/office/drawing/2014/main" id="{EA32953A-A699-A771-C0B8-A141355FDDD6}"/>
                </a:ext>
              </a:extLst>
            </p:cNvPr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44E9B1-80F9-7EE9-63A4-E2EEFEB1A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12" y="1408950"/>
            <a:ext cx="4823488" cy="2283100"/>
          </a:xfrm>
        </p:spPr>
        <p:txBody>
          <a:bodyPr/>
          <a:lstStyle/>
          <a:p>
            <a:r>
              <a:rPr lang="ru-RU" sz="2000" dirty="0"/>
              <a:t>Градиентный </a:t>
            </a:r>
            <a:r>
              <a:rPr lang="ru-RU" sz="2000" dirty="0" err="1"/>
              <a:t>бустинг</a:t>
            </a:r>
            <a:r>
              <a:rPr lang="ru-RU" sz="2000" dirty="0"/>
              <a:t> над деревьями.</a:t>
            </a:r>
          </a:p>
          <a:p>
            <a:r>
              <a:rPr lang="ru-RU" sz="2000" dirty="0"/>
              <a:t>Эффективен при классификации на малых и средних датасетах, хорошо обрабатывает нелинейные зависимости.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2219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>
          <a:extLst>
            <a:ext uri="{FF2B5EF4-FFF2-40B4-BE49-F238E27FC236}">
              <a16:creationId xmlns:a16="http://schemas.microsoft.com/office/drawing/2014/main" id="{E0C52EC2-40C7-4D0A-2FC9-6A023C786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1">
            <a:extLst>
              <a:ext uri="{FF2B5EF4-FFF2-40B4-BE49-F238E27FC236}">
                <a16:creationId xmlns:a16="http://schemas.microsoft.com/office/drawing/2014/main" id="{287D27E4-F26C-BC19-88B5-9B71B7DD75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849582" y="36316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b="1" dirty="0"/>
              <a:t>Random Forest</a:t>
            </a:r>
            <a:endParaRPr dirty="0"/>
          </a:p>
        </p:txBody>
      </p:sp>
      <p:sp>
        <p:nvSpPr>
          <p:cNvPr id="445" name="Google Shape;445;p41">
            <a:extLst>
              <a:ext uri="{FF2B5EF4-FFF2-40B4-BE49-F238E27FC236}">
                <a16:creationId xmlns:a16="http://schemas.microsoft.com/office/drawing/2014/main" id="{DBEF34B1-B4D1-327E-CD92-CB59790575D0}"/>
              </a:ext>
            </a:extLst>
          </p:cNvPr>
          <p:cNvSpPr/>
          <p:nvPr/>
        </p:nvSpPr>
        <p:spPr>
          <a:xfrm>
            <a:off x="202468" y="1156662"/>
            <a:ext cx="8154131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447" name="Google Shape;447;p41">
            <a:extLst>
              <a:ext uri="{FF2B5EF4-FFF2-40B4-BE49-F238E27FC236}">
                <a16:creationId xmlns:a16="http://schemas.microsoft.com/office/drawing/2014/main" id="{A9C6CC7B-D634-F6CC-CAD8-6F39D52542DC}"/>
              </a:ext>
            </a:extLst>
          </p:cNvPr>
          <p:cNvCxnSpPr/>
          <p:nvPr/>
        </p:nvCxnSpPr>
        <p:spPr>
          <a:xfrm rot="10800000" flipH="1">
            <a:off x="3459250" y="3912850"/>
            <a:ext cx="4990500" cy="11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8" name="Google Shape;448;p41">
            <a:extLst>
              <a:ext uri="{FF2B5EF4-FFF2-40B4-BE49-F238E27FC236}">
                <a16:creationId xmlns:a16="http://schemas.microsoft.com/office/drawing/2014/main" id="{0791BA53-F573-68B2-E4DC-659684CD9CED}"/>
              </a:ext>
            </a:extLst>
          </p:cNvPr>
          <p:cNvGrpSpPr/>
          <p:nvPr/>
        </p:nvGrpSpPr>
        <p:grpSpPr>
          <a:xfrm>
            <a:off x="2284813" y="3850262"/>
            <a:ext cx="537556" cy="136576"/>
            <a:chOff x="2641350" y="846250"/>
            <a:chExt cx="413600" cy="105075"/>
          </a:xfrm>
        </p:grpSpPr>
        <p:sp>
          <p:nvSpPr>
            <p:cNvPr id="449" name="Google Shape;449;p41">
              <a:extLst>
                <a:ext uri="{FF2B5EF4-FFF2-40B4-BE49-F238E27FC236}">
                  <a16:creationId xmlns:a16="http://schemas.microsoft.com/office/drawing/2014/main" id="{15D53FE9-14E5-6ABE-E98E-9B598E480CAB}"/>
                </a:ext>
              </a:extLst>
            </p:cNvPr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1">
              <a:extLst>
                <a:ext uri="{FF2B5EF4-FFF2-40B4-BE49-F238E27FC236}">
                  <a16:creationId xmlns:a16="http://schemas.microsoft.com/office/drawing/2014/main" id="{4D591C41-E59C-D614-D2D7-42DD4DEECB1D}"/>
                </a:ext>
              </a:extLst>
            </p:cNvPr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41">
              <a:extLst>
                <a:ext uri="{FF2B5EF4-FFF2-40B4-BE49-F238E27FC236}">
                  <a16:creationId xmlns:a16="http://schemas.microsoft.com/office/drawing/2014/main" id="{18ECB882-6CFC-8178-E405-B6975776825C}"/>
                </a:ext>
              </a:extLst>
            </p:cNvPr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41">
              <a:extLst>
                <a:ext uri="{FF2B5EF4-FFF2-40B4-BE49-F238E27FC236}">
                  <a16:creationId xmlns:a16="http://schemas.microsoft.com/office/drawing/2014/main" id="{F0D052A8-DFFC-BA83-969D-97386337C47B}"/>
                </a:ext>
              </a:extLst>
            </p:cNvPr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64753A-6D14-7855-80E0-F24A40AC2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12" y="1408950"/>
            <a:ext cx="4990500" cy="2283100"/>
          </a:xfrm>
        </p:spPr>
        <p:txBody>
          <a:bodyPr/>
          <a:lstStyle/>
          <a:p>
            <a:r>
              <a:rPr lang="ru-RU" sz="2000" dirty="0"/>
              <a:t>Ансамбль решающих деревьев (200 деревьев).</a:t>
            </a:r>
          </a:p>
          <a:p>
            <a:r>
              <a:rPr lang="ru-RU" sz="2000" dirty="0"/>
              <a:t>Устойчив к шуму и выбросам, хорошо выявляет сложные зависимости между признаками.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749727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465DD7A9-E634-8336-B42A-0306BCBC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0">
            <a:extLst>
              <a:ext uri="{FF2B5EF4-FFF2-40B4-BE49-F238E27FC236}">
                <a16:creationId xmlns:a16="http://schemas.microsoft.com/office/drawing/2014/main" id="{45CF5E4C-67A7-A885-41B2-5822FDCF2DE3}"/>
              </a:ext>
            </a:extLst>
          </p:cNvPr>
          <p:cNvSpPr/>
          <p:nvPr/>
        </p:nvSpPr>
        <p:spPr>
          <a:xfrm>
            <a:off x="3336004" y="2922741"/>
            <a:ext cx="2495100" cy="179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40">
            <a:extLst>
              <a:ext uri="{FF2B5EF4-FFF2-40B4-BE49-F238E27FC236}">
                <a16:creationId xmlns:a16="http://schemas.microsoft.com/office/drawing/2014/main" id="{3E4BA7EC-1D4E-37EB-6364-9DE987385067}"/>
              </a:ext>
            </a:extLst>
          </p:cNvPr>
          <p:cNvSpPr/>
          <p:nvPr/>
        </p:nvSpPr>
        <p:spPr>
          <a:xfrm>
            <a:off x="3336167" y="1059641"/>
            <a:ext cx="2495100" cy="179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40">
            <a:extLst>
              <a:ext uri="{FF2B5EF4-FFF2-40B4-BE49-F238E27FC236}">
                <a16:creationId xmlns:a16="http://schemas.microsoft.com/office/drawing/2014/main" id="{7DAAE5FD-939B-18A2-9523-9526A28D20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0727" y="21462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b="1" dirty="0"/>
              <a:t>Используемые метрики</a:t>
            </a:r>
          </a:p>
        </p:txBody>
      </p:sp>
      <p:sp>
        <p:nvSpPr>
          <p:cNvPr id="433" name="Google Shape;433;p40">
            <a:extLst>
              <a:ext uri="{FF2B5EF4-FFF2-40B4-BE49-F238E27FC236}">
                <a16:creationId xmlns:a16="http://schemas.microsoft.com/office/drawing/2014/main" id="{CC152EA4-D019-A771-DA0E-C3D3A26EE1D3}"/>
              </a:ext>
            </a:extLst>
          </p:cNvPr>
          <p:cNvSpPr/>
          <p:nvPr/>
        </p:nvSpPr>
        <p:spPr>
          <a:xfrm>
            <a:off x="8262473" y="1570679"/>
            <a:ext cx="549900" cy="549900"/>
          </a:xfrm>
          <a:prstGeom prst="ellipse">
            <a:avLst/>
          </a:prstGeom>
          <a:solidFill>
            <a:schemeClr val="accent1">
              <a:alpha val="359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40">
            <a:extLst>
              <a:ext uri="{FF2B5EF4-FFF2-40B4-BE49-F238E27FC236}">
                <a16:creationId xmlns:a16="http://schemas.microsoft.com/office/drawing/2014/main" id="{FA11C3CB-0197-2063-BA8D-FDA259D79D26}"/>
              </a:ext>
            </a:extLst>
          </p:cNvPr>
          <p:cNvSpPr/>
          <p:nvPr/>
        </p:nvSpPr>
        <p:spPr>
          <a:xfrm>
            <a:off x="8190787" y="4193213"/>
            <a:ext cx="796500" cy="796500"/>
          </a:xfrm>
          <a:prstGeom prst="ellipse">
            <a:avLst/>
          </a:prstGeom>
          <a:solidFill>
            <a:schemeClr val="accent1">
              <a:alpha val="359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5" name="Google Shape;435;p40">
            <a:extLst>
              <a:ext uri="{FF2B5EF4-FFF2-40B4-BE49-F238E27FC236}">
                <a16:creationId xmlns:a16="http://schemas.microsoft.com/office/drawing/2014/main" id="{6BC7DDAF-244B-FFD9-376C-D5ED9FA1ABA3}"/>
              </a:ext>
            </a:extLst>
          </p:cNvPr>
          <p:cNvGrpSpPr/>
          <p:nvPr/>
        </p:nvGrpSpPr>
        <p:grpSpPr>
          <a:xfrm rot="10800000">
            <a:off x="1186863" y="823412"/>
            <a:ext cx="537556" cy="136576"/>
            <a:chOff x="2641350" y="846250"/>
            <a:chExt cx="413600" cy="105075"/>
          </a:xfrm>
        </p:grpSpPr>
        <p:sp>
          <p:nvSpPr>
            <p:cNvPr id="436" name="Google Shape;436;p40">
              <a:extLst>
                <a:ext uri="{FF2B5EF4-FFF2-40B4-BE49-F238E27FC236}">
                  <a16:creationId xmlns:a16="http://schemas.microsoft.com/office/drawing/2014/main" id="{29D983F2-EF04-75EC-6274-1661025A8F17}"/>
                </a:ext>
              </a:extLst>
            </p:cNvPr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>
              <a:extLst>
                <a:ext uri="{FF2B5EF4-FFF2-40B4-BE49-F238E27FC236}">
                  <a16:creationId xmlns:a16="http://schemas.microsoft.com/office/drawing/2014/main" id="{C0B69A27-DD4D-98A0-920E-CDE5919B95C4}"/>
                </a:ext>
              </a:extLst>
            </p:cNvPr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>
              <a:extLst>
                <a:ext uri="{FF2B5EF4-FFF2-40B4-BE49-F238E27FC236}">
                  <a16:creationId xmlns:a16="http://schemas.microsoft.com/office/drawing/2014/main" id="{EB46E247-C115-3F43-28A6-526D3D2106A2}"/>
                </a:ext>
              </a:extLst>
            </p:cNvPr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>
              <a:extLst>
                <a:ext uri="{FF2B5EF4-FFF2-40B4-BE49-F238E27FC236}">
                  <a16:creationId xmlns:a16="http://schemas.microsoft.com/office/drawing/2014/main" id="{4E40A89C-D1EA-4EA2-7D1F-15A64060F809}"/>
                </a:ext>
              </a:extLst>
            </p:cNvPr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B0457EE-720C-C4EC-E613-20F50A25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055" y="1282423"/>
            <a:ext cx="7306800" cy="3595500"/>
          </a:xfrm>
        </p:spPr>
        <p:txBody>
          <a:bodyPr/>
          <a:lstStyle/>
          <a:p>
            <a:pPr marL="139700" indent="0">
              <a:buNone/>
            </a:pPr>
            <a:r>
              <a:rPr lang="ru-RU" sz="2000" dirty="0"/>
              <a:t>Для оценки моделей использовались:</a:t>
            </a:r>
          </a:p>
          <a:p>
            <a:r>
              <a:rPr lang="ru-RU" sz="2000" b="1" dirty="0" err="1"/>
              <a:t>Accuracy</a:t>
            </a:r>
            <a:r>
              <a:rPr lang="ru-RU" sz="2000" b="1" dirty="0"/>
              <a:t> (точность)</a:t>
            </a:r>
            <a:r>
              <a:rPr lang="ru-RU" sz="2000" dirty="0"/>
              <a:t> — доля правильных предсказаний.</a:t>
            </a:r>
          </a:p>
          <a:p>
            <a:r>
              <a:rPr lang="ru-RU" sz="2000" b="1" dirty="0" err="1"/>
              <a:t>Recall</a:t>
            </a:r>
            <a:r>
              <a:rPr lang="ru-RU" sz="2000" b="1" dirty="0"/>
              <a:t> (чувствительность)</a:t>
            </a:r>
            <a:r>
              <a:rPr lang="ru-RU" sz="2000" dirty="0"/>
              <a:t> — доля правильно выявленных больных клеток.</a:t>
            </a:r>
          </a:p>
          <a:p>
            <a:r>
              <a:rPr lang="ru-RU" sz="2000" b="1" dirty="0"/>
              <a:t>Precision (точность предсказаний)</a:t>
            </a:r>
            <a:r>
              <a:rPr lang="ru-RU" sz="2000" dirty="0"/>
              <a:t> — доля корректных положительных предсказаний.</a:t>
            </a:r>
          </a:p>
          <a:p>
            <a:r>
              <a:rPr lang="ru-RU" sz="2000" b="1" dirty="0"/>
              <a:t>ROC-AUC</a:t>
            </a:r>
            <a:r>
              <a:rPr lang="ru-RU" sz="2000" dirty="0"/>
              <a:t> — способность модели различать положительные и отрицательные классы.</a:t>
            </a:r>
          </a:p>
          <a:p>
            <a:pPr marL="13970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037135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F2C4AD1A-B672-0DF3-BE49-9F98DFB7F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0">
            <a:extLst>
              <a:ext uri="{FF2B5EF4-FFF2-40B4-BE49-F238E27FC236}">
                <a16:creationId xmlns:a16="http://schemas.microsoft.com/office/drawing/2014/main" id="{860821E5-9C1D-B25C-0D84-6078D851CC60}"/>
              </a:ext>
            </a:extLst>
          </p:cNvPr>
          <p:cNvSpPr/>
          <p:nvPr/>
        </p:nvSpPr>
        <p:spPr>
          <a:xfrm>
            <a:off x="3336004" y="2922741"/>
            <a:ext cx="2495100" cy="179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40">
            <a:extLst>
              <a:ext uri="{FF2B5EF4-FFF2-40B4-BE49-F238E27FC236}">
                <a16:creationId xmlns:a16="http://schemas.microsoft.com/office/drawing/2014/main" id="{960B36E5-9918-50CF-0F60-12CE1D9D3B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0727" y="21462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b="1" dirty="0"/>
              <a:t>Результаты моделей</a:t>
            </a:r>
          </a:p>
        </p:txBody>
      </p:sp>
      <p:sp>
        <p:nvSpPr>
          <p:cNvPr id="433" name="Google Shape;433;p40">
            <a:extLst>
              <a:ext uri="{FF2B5EF4-FFF2-40B4-BE49-F238E27FC236}">
                <a16:creationId xmlns:a16="http://schemas.microsoft.com/office/drawing/2014/main" id="{078FBE23-4DA5-ED86-4B13-5B1AB2551DA7}"/>
              </a:ext>
            </a:extLst>
          </p:cNvPr>
          <p:cNvSpPr/>
          <p:nvPr/>
        </p:nvSpPr>
        <p:spPr>
          <a:xfrm>
            <a:off x="8262473" y="1570679"/>
            <a:ext cx="549900" cy="549900"/>
          </a:xfrm>
          <a:prstGeom prst="ellipse">
            <a:avLst/>
          </a:prstGeom>
          <a:solidFill>
            <a:schemeClr val="accent1">
              <a:alpha val="359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40">
            <a:extLst>
              <a:ext uri="{FF2B5EF4-FFF2-40B4-BE49-F238E27FC236}">
                <a16:creationId xmlns:a16="http://schemas.microsoft.com/office/drawing/2014/main" id="{CC1ABF7B-8E5E-4B36-C41A-D5C32737D6BC}"/>
              </a:ext>
            </a:extLst>
          </p:cNvPr>
          <p:cNvSpPr/>
          <p:nvPr/>
        </p:nvSpPr>
        <p:spPr>
          <a:xfrm>
            <a:off x="8190787" y="4193213"/>
            <a:ext cx="796500" cy="796500"/>
          </a:xfrm>
          <a:prstGeom prst="ellipse">
            <a:avLst/>
          </a:prstGeom>
          <a:solidFill>
            <a:schemeClr val="accent1">
              <a:alpha val="359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5" name="Google Shape;435;p40">
            <a:extLst>
              <a:ext uri="{FF2B5EF4-FFF2-40B4-BE49-F238E27FC236}">
                <a16:creationId xmlns:a16="http://schemas.microsoft.com/office/drawing/2014/main" id="{1866C357-09AC-4FA0-C3E6-BE67138701E4}"/>
              </a:ext>
            </a:extLst>
          </p:cNvPr>
          <p:cNvGrpSpPr/>
          <p:nvPr/>
        </p:nvGrpSpPr>
        <p:grpSpPr>
          <a:xfrm rot="10800000">
            <a:off x="1186863" y="823412"/>
            <a:ext cx="537556" cy="136576"/>
            <a:chOff x="2641350" y="846250"/>
            <a:chExt cx="413600" cy="105075"/>
          </a:xfrm>
        </p:grpSpPr>
        <p:sp>
          <p:nvSpPr>
            <p:cNvPr id="436" name="Google Shape;436;p40">
              <a:extLst>
                <a:ext uri="{FF2B5EF4-FFF2-40B4-BE49-F238E27FC236}">
                  <a16:creationId xmlns:a16="http://schemas.microsoft.com/office/drawing/2014/main" id="{46347953-62E9-ED54-00E3-2815DCD08C87}"/>
                </a:ext>
              </a:extLst>
            </p:cNvPr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>
              <a:extLst>
                <a:ext uri="{FF2B5EF4-FFF2-40B4-BE49-F238E27FC236}">
                  <a16:creationId xmlns:a16="http://schemas.microsoft.com/office/drawing/2014/main" id="{52C9C75F-9CE7-E666-256C-0BEEA7A9C304}"/>
                </a:ext>
              </a:extLst>
            </p:cNvPr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>
              <a:extLst>
                <a:ext uri="{FF2B5EF4-FFF2-40B4-BE49-F238E27FC236}">
                  <a16:creationId xmlns:a16="http://schemas.microsoft.com/office/drawing/2014/main" id="{84FF28AF-CC1D-97CB-F948-3908A2399523}"/>
                </a:ext>
              </a:extLst>
            </p:cNvPr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>
              <a:extLst>
                <a:ext uri="{FF2B5EF4-FFF2-40B4-BE49-F238E27FC236}">
                  <a16:creationId xmlns:a16="http://schemas.microsoft.com/office/drawing/2014/main" id="{E8BABDFD-750D-F682-D2B1-D16BBB35CB6C}"/>
                </a:ext>
              </a:extLst>
            </p:cNvPr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22020C5F-E47A-89AF-8EE7-ABDFC98CA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038194"/>
              </p:ext>
            </p:extLst>
          </p:nvPr>
        </p:nvGraphicFramePr>
        <p:xfrm>
          <a:off x="1186862" y="2181061"/>
          <a:ext cx="6096000" cy="1778000"/>
        </p:xfrm>
        <a:graphic>
          <a:graphicData uri="http://schemas.openxmlformats.org/drawingml/2006/table">
            <a:tbl>
              <a:tblPr firstRow="1" bandRow="1">
                <a:tableStyleId>{A5920FA9-BE45-41F9-9F6D-AE9BB38B5F37}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6993902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3863117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2444811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8535834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9825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Модель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ROC-AUC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715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0.6754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0.5678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0.9098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8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0.7006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0.6766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0.6993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809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0.7017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0.6924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0.9483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0.7006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546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682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3"/>
          <p:cNvSpPr/>
          <p:nvPr/>
        </p:nvSpPr>
        <p:spPr>
          <a:xfrm>
            <a:off x="87777" y="697000"/>
            <a:ext cx="8405058" cy="407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5" name="Google Shape;485;p43"/>
          <p:cNvGrpSpPr/>
          <p:nvPr/>
        </p:nvGrpSpPr>
        <p:grpSpPr>
          <a:xfrm rot="10800000">
            <a:off x="-369277" y="3791021"/>
            <a:ext cx="2159530" cy="548628"/>
            <a:chOff x="2641350" y="846250"/>
            <a:chExt cx="413600" cy="105075"/>
          </a:xfrm>
        </p:grpSpPr>
        <p:sp>
          <p:nvSpPr>
            <p:cNvPr id="486" name="Google Shape;486;p43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3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3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43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0" name="Google Shape;490;p43"/>
          <p:cNvSpPr/>
          <p:nvPr/>
        </p:nvSpPr>
        <p:spPr>
          <a:xfrm>
            <a:off x="2728800" y="373100"/>
            <a:ext cx="998400" cy="9984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1" name="Google Shape;491;p43"/>
          <p:cNvGrpSpPr/>
          <p:nvPr/>
        </p:nvGrpSpPr>
        <p:grpSpPr>
          <a:xfrm>
            <a:off x="3244263" y="1234912"/>
            <a:ext cx="537556" cy="136576"/>
            <a:chOff x="2641350" y="846250"/>
            <a:chExt cx="413600" cy="105075"/>
          </a:xfrm>
        </p:grpSpPr>
        <p:sp>
          <p:nvSpPr>
            <p:cNvPr id="492" name="Google Shape;492;p43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3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3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43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6" name="Google Shape;496;p43"/>
          <p:cNvSpPr txBox="1">
            <a:spLocks noGrp="1"/>
          </p:cNvSpPr>
          <p:nvPr>
            <p:ph type="body" idx="1"/>
          </p:nvPr>
        </p:nvSpPr>
        <p:spPr>
          <a:xfrm>
            <a:off x="87777" y="1497491"/>
            <a:ext cx="6174477" cy="22745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ru-RU" sz="2000" dirty="0"/>
              <a:t>🔹 Все модели показывают высокий </a:t>
            </a:r>
            <a:r>
              <a:rPr lang="ru-RU" sz="2000" b="1" dirty="0" err="1"/>
              <a:t>Recall</a:t>
            </a:r>
            <a:r>
              <a:rPr lang="ru-RU" sz="2000" dirty="0"/>
              <a:t>, что важно для медицинской диагностики, так как минимизирует пропуск больных клеток.</a:t>
            </a:r>
            <a:br>
              <a:rPr lang="ru-RU" sz="2000" dirty="0"/>
            </a:br>
            <a:r>
              <a:rPr lang="ru-RU" sz="2000" dirty="0"/>
              <a:t>🔹 ROC-AUC ниже 0.7 указывает на возможное улучшение признаков, но </a:t>
            </a:r>
            <a:r>
              <a:rPr lang="ru-RU" sz="2000" dirty="0" err="1"/>
              <a:t>Accuracy</a:t>
            </a:r>
            <a:r>
              <a:rPr lang="ru-RU" sz="2000" dirty="0"/>
              <a:t> ~0.7 — адекватно для классических моделей без нейросетей.</a:t>
            </a:r>
            <a:endParaRPr sz="20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7229588F-B09D-F4AC-3D08-782C722CA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0">
            <a:extLst>
              <a:ext uri="{FF2B5EF4-FFF2-40B4-BE49-F238E27FC236}">
                <a16:creationId xmlns:a16="http://schemas.microsoft.com/office/drawing/2014/main" id="{F631EC0B-DFD8-7197-2BEA-5E13DCDFB01C}"/>
              </a:ext>
            </a:extLst>
          </p:cNvPr>
          <p:cNvSpPr/>
          <p:nvPr/>
        </p:nvSpPr>
        <p:spPr>
          <a:xfrm>
            <a:off x="3336004" y="2922741"/>
            <a:ext cx="2495100" cy="179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40">
            <a:extLst>
              <a:ext uri="{FF2B5EF4-FFF2-40B4-BE49-F238E27FC236}">
                <a16:creationId xmlns:a16="http://schemas.microsoft.com/office/drawing/2014/main" id="{17F0BD72-0C98-64BC-3237-8BE9DDF0832F}"/>
              </a:ext>
            </a:extLst>
          </p:cNvPr>
          <p:cNvSpPr/>
          <p:nvPr/>
        </p:nvSpPr>
        <p:spPr>
          <a:xfrm>
            <a:off x="3336167" y="1059641"/>
            <a:ext cx="2495100" cy="179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40">
            <a:extLst>
              <a:ext uri="{FF2B5EF4-FFF2-40B4-BE49-F238E27FC236}">
                <a16:creationId xmlns:a16="http://schemas.microsoft.com/office/drawing/2014/main" id="{C65E810B-B16E-E478-F3F2-9F984134AF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0727" y="21462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/>
              <a:t>GUI (</a:t>
            </a:r>
            <a:r>
              <a:rPr lang="ru-RU" b="1" dirty="0"/>
              <a:t>графический интерфейс)</a:t>
            </a:r>
          </a:p>
        </p:txBody>
      </p:sp>
      <p:sp>
        <p:nvSpPr>
          <p:cNvPr id="433" name="Google Shape;433;p40">
            <a:extLst>
              <a:ext uri="{FF2B5EF4-FFF2-40B4-BE49-F238E27FC236}">
                <a16:creationId xmlns:a16="http://schemas.microsoft.com/office/drawing/2014/main" id="{4755DF4A-1669-ED89-E5D8-91A1761B35F5}"/>
              </a:ext>
            </a:extLst>
          </p:cNvPr>
          <p:cNvSpPr/>
          <p:nvPr/>
        </p:nvSpPr>
        <p:spPr>
          <a:xfrm>
            <a:off x="8262473" y="1570679"/>
            <a:ext cx="549900" cy="549900"/>
          </a:xfrm>
          <a:prstGeom prst="ellipse">
            <a:avLst/>
          </a:prstGeom>
          <a:solidFill>
            <a:schemeClr val="accent1">
              <a:alpha val="359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40">
            <a:extLst>
              <a:ext uri="{FF2B5EF4-FFF2-40B4-BE49-F238E27FC236}">
                <a16:creationId xmlns:a16="http://schemas.microsoft.com/office/drawing/2014/main" id="{F9341BF5-40D1-B897-2B48-F40DC1720158}"/>
              </a:ext>
            </a:extLst>
          </p:cNvPr>
          <p:cNvSpPr/>
          <p:nvPr/>
        </p:nvSpPr>
        <p:spPr>
          <a:xfrm>
            <a:off x="8190787" y="4193213"/>
            <a:ext cx="796500" cy="796500"/>
          </a:xfrm>
          <a:prstGeom prst="ellipse">
            <a:avLst/>
          </a:prstGeom>
          <a:solidFill>
            <a:schemeClr val="accent1">
              <a:alpha val="359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5" name="Google Shape;435;p40">
            <a:extLst>
              <a:ext uri="{FF2B5EF4-FFF2-40B4-BE49-F238E27FC236}">
                <a16:creationId xmlns:a16="http://schemas.microsoft.com/office/drawing/2014/main" id="{09A3D757-5243-4F51-0A93-51643C71D560}"/>
              </a:ext>
            </a:extLst>
          </p:cNvPr>
          <p:cNvGrpSpPr/>
          <p:nvPr/>
        </p:nvGrpSpPr>
        <p:grpSpPr>
          <a:xfrm rot="10800000">
            <a:off x="1186863" y="823412"/>
            <a:ext cx="537556" cy="136576"/>
            <a:chOff x="2641350" y="846250"/>
            <a:chExt cx="413600" cy="105075"/>
          </a:xfrm>
        </p:grpSpPr>
        <p:sp>
          <p:nvSpPr>
            <p:cNvPr id="436" name="Google Shape;436;p40">
              <a:extLst>
                <a:ext uri="{FF2B5EF4-FFF2-40B4-BE49-F238E27FC236}">
                  <a16:creationId xmlns:a16="http://schemas.microsoft.com/office/drawing/2014/main" id="{8F1FA707-ABE0-A5E9-7032-DAD2613E4C2B}"/>
                </a:ext>
              </a:extLst>
            </p:cNvPr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>
              <a:extLst>
                <a:ext uri="{FF2B5EF4-FFF2-40B4-BE49-F238E27FC236}">
                  <a16:creationId xmlns:a16="http://schemas.microsoft.com/office/drawing/2014/main" id="{57AB10A0-1095-C5B1-6ED2-6A3EA583508E}"/>
                </a:ext>
              </a:extLst>
            </p:cNvPr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>
              <a:extLst>
                <a:ext uri="{FF2B5EF4-FFF2-40B4-BE49-F238E27FC236}">
                  <a16:creationId xmlns:a16="http://schemas.microsoft.com/office/drawing/2014/main" id="{9D270A46-FFB3-0CEC-0DD7-E7C2C0F9B2D7}"/>
                </a:ext>
              </a:extLst>
            </p:cNvPr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>
              <a:extLst>
                <a:ext uri="{FF2B5EF4-FFF2-40B4-BE49-F238E27FC236}">
                  <a16:creationId xmlns:a16="http://schemas.microsoft.com/office/drawing/2014/main" id="{469D5A40-5A15-9D6B-43FA-A24E9ABE3464}"/>
                </a:ext>
              </a:extLst>
            </p:cNvPr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4B18B5-9F27-A5D5-37FC-9CD6BE103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055" y="1282423"/>
            <a:ext cx="7306800" cy="3595500"/>
          </a:xfrm>
        </p:spPr>
        <p:txBody>
          <a:bodyPr/>
          <a:lstStyle/>
          <a:p>
            <a:r>
              <a:rPr lang="ru-RU" sz="2000" dirty="0"/>
              <a:t>Проект содержит простой GUI на </a:t>
            </a:r>
            <a:r>
              <a:rPr lang="ru-RU" sz="2000" b="1" dirty="0" err="1"/>
              <a:t>Tkinter</a:t>
            </a:r>
            <a:r>
              <a:rPr lang="ru-RU" sz="2000" dirty="0"/>
              <a:t>, который позволяет:</a:t>
            </a:r>
          </a:p>
          <a:p>
            <a:r>
              <a:rPr lang="ru-RU" sz="2000" dirty="0"/>
              <a:t>Загружать любую фотографию клетки крови.</a:t>
            </a:r>
          </a:p>
          <a:p>
            <a:r>
              <a:rPr lang="ru-RU" sz="2000" dirty="0"/>
              <a:t>Сразу получать предсказания всех трёх моделей:</a:t>
            </a:r>
          </a:p>
          <a:p>
            <a:pPr lvl="1"/>
            <a:r>
              <a:rPr lang="ru-RU" sz="2000" dirty="0"/>
              <a:t>«Лейкемия» или «Норма»</a:t>
            </a:r>
          </a:p>
          <a:p>
            <a:pPr lvl="1"/>
            <a:r>
              <a:rPr lang="ru-RU" sz="2000" dirty="0"/>
              <a:t>Вероятность принадлежности к классу «Лейкемия».</a:t>
            </a:r>
          </a:p>
          <a:p>
            <a:r>
              <a:rPr lang="ru-RU" sz="2000" dirty="0"/>
              <a:t>Просматривать результаты метрик моделей на валидации.</a:t>
            </a:r>
          </a:p>
        </p:txBody>
      </p:sp>
    </p:spTree>
    <p:extLst>
      <p:ext uri="{BB962C8B-B14F-4D97-AF65-F5344CB8AC3E}">
        <p14:creationId xmlns:p14="http://schemas.microsoft.com/office/powerpoint/2010/main" val="3384694602"/>
      </p:ext>
    </p:extLst>
  </p:cSld>
  <p:clrMapOvr>
    <a:masterClrMapping/>
  </p:clrMapOvr>
</p:sld>
</file>

<file path=ppt/theme/theme1.xml><?xml version="1.0" encoding="utf-8"?>
<a:theme xmlns:a="http://schemas.openxmlformats.org/drawingml/2006/main" name="Artificial Intelligence (AI) Startup Business Plan by Slidesgo">
  <a:themeElements>
    <a:clrScheme name="Simple Light">
      <a:dk1>
        <a:srgbClr val="191919"/>
      </a:dk1>
      <a:lt1>
        <a:srgbClr val="FFFFFF"/>
      </a:lt1>
      <a:dk2>
        <a:srgbClr val="C1C1C1"/>
      </a:dk2>
      <a:lt2>
        <a:srgbClr val="E7E7E7"/>
      </a:lt2>
      <a:accent1>
        <a:srgbClr val="6E79E4"/>
      </a:accent1>
      <a:accent2>
        <a:srgbClr val="3C3C3B"/>
      </a:accent2>
      <a:accent3>
        <a:srgbClr val="5C64B8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354</Words>
  <Application>Microsoft Office PowerPoint</Application>
  <PresentationFormat>Экран (16:9)</PresentationFormat>
  <Paragraphs>56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Inter Bold</vt:lpstr>
      <vt:lpstr>Nunito</vt:lpstr>
      <vt:lpstr>Raleway Medium</vt:lpstr>
      <vt:lpstr>Bebas Neue</vt:lpstr>
      <vt:lpstr>Raleway</vt:lpstr>
      <vt:lpstr>Arial</vt:lpstr>
      <vt:lpstr>Inter</vt:lpstr>
      <vt:lpstr>Artificial Intelligence (AI) Startup Business Plan by Slidesgo</vt:lpstr>
      <vt:lpstr>Автоматическое определение лейкемии по изображениям клетоккрови</vt:lpstr>
      <vt:lpstr>О проекте</vt:lpstr>
      <vt:lpstr>Тренировочные данные</vt:lpstr>
      <vt:lpstr>Используемые модели</vt:lpstr>
      <vt:lpstr>Logistic Regression</vt:lpstr>
      <vt:lpstr>XGBoost</vt:lpstr>
      <vt:lpstr>Random Forest</vt:lpstr>
      <vt:lpstr>Используемые метрики</vt:lpstr>
      <vt:lpstr>Результаты моделей</vt:lpstr>
      <vt:lpstr>Презентация PowerPoint</vt:lpstr>
      <vt:lpstr>GUI (графический интерфейс)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a7dr1</dc:creator>
  <cp:lastModifiedBy>a7dr1a70vn1k@mail.ru</cp:lastModifiedBy>
  <cp:revision>2</cp:revision>
  <dcterms:modified xsi:type="dcterms:W3CDTF">2025-12-14T19:45:22Z</dcterms:modified>
</cp:coreProperties>
</file>